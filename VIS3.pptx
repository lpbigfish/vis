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5670550" cx="10080625"/>
  <p:notesSz cx="7559675" cy="10691800"/>
  <p:embeddedFontLst>
    <p:embeddedFont>
      <p:font typeface="Raleway"/>
      <p:regular r:id="rId29"/>
      <p:bold r:id="rId30"/>
      <p:italic r:id="rId31"/>
      <p:boldItalic r:id="rId32"/>
    </p:embeddedFont>
    <p:embeddedFont>
      <p:font typeface="La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AB76AB-4FA7-4837-8043-DD9115E32689}">
  <a:tblStyle styleId="{98AB76AB-4FA7-4837-8043-DD9115E3268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aleway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aleway-italic.fntdata"/><Relationship Id="rId30" Type="http://schemas.openxmlformats.org/officeDocument/2006/relationships/font" Target="fonts/Raleway-bold.fntdata"/><Relationship Id="rId11" Type="http://schemas.openxmlformats.org/officeDocument/2006/relationships/slide" Target="slides/slide6.xml"/><Relationship Id="rId33" Type="http://schemas.openxmlformats.org/officeDocument/2006/relationships/font" Target="fonts/Lato-regular.fntdata"/><Relationship Id="rId10" Type="http://schemas.openxmlformats.org/officeDocument/2006/relationships/slide" Target="slides/slide5.xml"/><Relationship Id="rId32" Type="http://schemas.openxmlformats.org/officeDocument/2006/relationships/font" Target="fonts/Raleway-boldItalic.fntdata"/><Relationship Id="rId13" Type="http://schemas.openxmlformats.org/officeDocument/2006/relationships/slide" Target="slides/slide8.xml"/><Relationship Id="rId35" Type="http://schemas.openxmlformats.org/officeDocument/2006/relationships/font" Target="fonts/Lato-italic.fntdata"/><Relationship Id="rId12" Type="http://schemas.openxmlformats.org/officeDocument/2006/relationships/slide" Target="slides/slide7.xml"/><Relationship Id="rId34" Type="http://schemas.openxmlformats.org/officeDocument/2006/relationships/font" Target="fonts/Lato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Lato-bold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3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4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5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6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7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h29e435ebc131335e_1_2186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h29e435ebc131335e_1_2186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h22f4265ef7ed6635_0_0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h22f4265ef7ed6635_0_0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22f4265ef7ed6635_0_5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h22f4265ef7ed6635_0_5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h22f4265ef7ed6635_0_11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h22f4265ef7ed6635_0_11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h22f4265ef7ed6635_0_15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h22f4265ef7ed6635_0_15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h22f4265ef7ed6635_0_19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h22f4265ef7ed6635_0_19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h22f4265ef7ed6635_0_23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h22f4265ef7ed6635_0_23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h22f4265ef7ed6635_0_27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h22f4265ef7ed6635_0_27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h4dea1ba7fd3ad306_3_15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h4dea1ba7fd3ad306_3_15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h2ef17c2c0eadf9ec_0_5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h2ef17c2c0eadf9ec_0_5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h6c2c494a4ddf6b85_0_0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h6c2c494a4ddf6b85_0_0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h6c2c494a4ddf6b85_0_6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h6c2c494a4ddf6b85_0_6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h6c2c494a4ddf6b85_0_10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h6c2c494a4ddf6b85_0_10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h4dea1ba7fd3ad306_3_3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h4dea1ba7fd3ad306_3_3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h4dea1ba7fd3ad306_3_9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h4dea1ba7fd3ad306_3_9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h22f4265ef7ed6635_0_31:notes"/>
          <p:cNvSpPr/>
          <p:nvPr>
            <p:ph idx="2" type="sldImg"/>
          </p:nvPr>
        </p:nvSpPr>
        <p:spPr>
          <a:xfrm>
            <a:off x="1260175" y="801875"/>
            <a:ext cx="5040000" cy="4009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h22f4265ef7ed6635_0_31:notes"/>
          <p:cNvSpPr txBox="1"/>
          <p:nvPr>
            <p:ph idx="1" type="body"/>
          </p:nvPr>
        </p:nvSpPr>
        <p:spPr>
          <a:xfrm>
            <a:off x="755950" y="5078600"/>
            <a:ext cx="6047700" cy="48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10080600" cy="53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00800" lIns="100800" spcFirstLastPara="1" rIns="100800" wrap="square" tIns="10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915619" y="1313219"/>
            <a:ext cx="822192" cy="50521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804168" y="1457960"/>
            <a:ext cx="8475600" cy="18354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804364" y="3498024"/>
            <a:ext cx="8475600" cy="596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915619" y="1313219"/>
            <a:ext cx="822192" cy="50521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804168" y="1457960"/>
            <a:ext cx="8475900" cy="16743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10080600" cy="53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00800" lIns="100800" spcFirstLastPara="1" rIns="100800" wrap="square" tIns="10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915619" y="1313219"/>
            <a:ext cx="822192" cy="50521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804168" y="2291896"/>
            <a:ext cx="84762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10080600" cy="53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00800" lIns="100800" spcFirstLastPara="1" rIns="100800" wrap="square" tIns="10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915619" y="1313219"/>
            <a:ext cx="822192" cy="50521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804168" y="1453771"/>
            <a:ext cx="84759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04030" y="2291896"/>
            <a:ext cx="41610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5119250" y="2291896"/>
            <a:ext cx="41610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10080600" cy="53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00800" lIns="100800" spcFirstLastPara="1" rIns="100800" wrap="square" tIns="10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915619" y="1313219"/>
            <a:ext cx="822192" cy="50521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804168" y="1453771"/>
            <a:ext cx="84759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10080600" cy="53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00800" lIns="100800" spcFirstLastPara="1" rIns="100800" wrap="square" tIns="10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915619" y="1313219"/>
            <a:ext cx="822192" cy="50521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804774" y="1453771"/>
            <a:ext cx="3639000" cy="1523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95100" y="3066766"/>
            <a:ext cx="3639000" cy="17613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915619" y="4596233"/>
            <a:ext cx="822192" cy="50521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804168" y="952864"/>
            <a:ext cx="7740300" cy="32910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5040300" cy="567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00800" lIns="100800" spcFirstLastPara="1" rIns="100800" wrap="square" tIns="100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915619" y="1313219"/>
            <a:ext cx="822192" cy="50521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804774" y="1453771"/>
            <a:ext cx="3639000" cy="18600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99207" y="3485484"/>
            <a:ext cx="3639000" cy="836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704224" y="1491227"/>
            <a:ext cx="3720000" cy="33354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99207" y="4820603"/>
            <a:ext cx="8485800" cy="5076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915619" y="4596233"/>
            <a:ext cx="822192" cy="50521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00800" lIns="100800" spcFirstLastPara="1" rIns="100800" wrap="square" tIns="100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804168" y="809157"/>
            <a:ext cx="8475900" cy="13722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800"/>
              <a:buNone/>
              <a:defRPr sz="88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804168" y="2505789"/>
            <a:ext cx="8475900" cy="17424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TITLE_1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504000" y="226080"/>
            <a:ext cx="9071700" cy="9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/>
        </p:txBody>
      </p:sp>
      <p:sp>
        <p:nvSpPr>
          <p:cNvPr id="84" name="Google Shape;84;p13"/>
          <p:cNvSpPr txBox="1"/>
          <p:nvPr>
            <p:ph idx="1" type="subTitle"/>
          </p:nvPr>
        </p:nvSpPr>
        <p:spPr>
          <a:xfrm>
            <a:off x="504000" y="1326600"/>
            <a:ext cx="9071700" cy="328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spcBef>
                <a:spcPts val="1417"/>
              </a:spcBef>
              <a:spcAft>
                <a:spcPts val="0"/>
              </a:spcAft>
              <a:buSzPts val="810"/>
              <a:buChar char="●"/>
              <a:defRPr/>
            </a:lvl1pPr>
            <a:lvl2pPr lvl="1" algn="l">
              <a:spcBef>
                <a:spcPts val="1300"/>
              </a:spcBef>
              <a:spcAft>
                <a:spcPts val="0"/>
              </a:spcAft>
              <a:buSzPts val="1350"/>
              <a:buChar char="○"/>
              <a:defRPr/>
            </a:lvl2pPr>
            <a:lvl3pPr lvl="2" algn="l">
              <a:spcBef>
                <a:spcPts val="1300"/>
              </a:spcBef>
              <a:spcAft>
                <a:spcPts val="0"/>
              </a:spcAft>
              <a:buSzPts val="810"/>
              <a:buChar char="■"/>
              <a:defRPr/>
            </a:lvl3pPr>
            <a:lvl4pPr lvl="3" algn="l">
              <a:spcBef>
                <a:spcPts val="1300"/>
              </a:spcBef>
              <a:spcAft>
                <a:spcPts val="0"/>
              </a:spcAft>
              <a:buSzPts val="1350"/>
              <a:buChar char="●"/>
              <a:defRPr/>
            </a:lvl4pPr>
            <a:lvl5pPr lvl="4" algn="l">
              <a:spcBef>
                <a:spcPts val="1300"/>
              </a:spcBef>
              <a:spcAft>
                <a:spcPts val="0"/>
              </a:spcAft>
              <a:buSzPts val="810"/>
              <a:buChar char="○"/>
              <a:defRPr/>
            </a:lvl5pPr>
            <a:lvl6pPr lvl="5" algn="l">
              <a:spcBef>
                <a:spcPts val="1300"/>
              </a:spcBef>
              <a:spcAft>
                <a:spcPts val="0"/>
              </a:spcAft>
              <a:buSzPts val="810"/>
              <a:buChar char="■"/>
              <a:defRPr/>
            </a:lvl6pPr>
            <a:lvl7pPr lvl="6" algn="l">
              <a:spcBef>
                <a:spcPts val="1300"/>
              </a:spcBef>
              <a:spcAft>
                <a:spcPts val="0"/>
              </a:spcAft>
              <a:buSzPts val="810"/>
              <a:buChar char="●"/>
              <a:defRPr/>
            </a:lvl7pPr>
            <a:lvl8pPr lvl="7" algn="l">
              <a:spcBef>
                <a:spcPts val="1300"/>
              </a:spcBef>
              <a:spcAft>
                <a:spcPts val="0"/>
              </a:spcAft>
              <a:buSzPts val="1200"/>
              <a:buNone/>
              <a:defRPr/>
            </a:lvl8pPr>
            <a:lvl9pPr lvl="8" algn="l">
              <a:spcBef>
                <a:spcPts val="1300"/>
              </a:spcBef>
              <a:spcAft>
                <a:spcPts val="1300"/>
              </a:spcAft>
              <a:buSzPts val="1200"/>
              <a:buNone/>
              <a:defRPr/>
            </a:lvl9pPr>
          </a:lstStyle>
          <a:p/>
        </p:txBody>
      </p:sp>
      <p:sp>
        <p:nvSpPr>
          <p:cNvPr id="85" name="Google Shape;85;p13"/>
          <p:cNvSpPr txBox="1"/>
          <p:nvPr>
            <p:ph idx="11"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7227360" y="5165280"/>
            <a:ext cx="23484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algn="r">
              <a:spcBef>
                <a:spcPts val="0"/>
              </a:spcBef>
              <a:buClr>
                <a:srgbClr val="000000"/>
              </a:buClr>
              <a:buSzPts val="1400"/>
              <a:buFont typeface="Times New Roman"/>
              <a:buNone/>
              <a:defRPr b="0" sz="1400" u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1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7" name="Google Shape;87;p13"/>
          <p:cNvSpPr txBox="1"/>
          <p:nvPr>
            <p:ph idx="10" type="dt"/>
          </p:nvPr>
        </p:nvSpPr>
        <p:spPr>
          <a:xfrm>
            <a:off x="504000" y="5165280"/>
            <a:ext cx="23484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h29e435ebc131335e_31_0)">
  <p:cSld name="Title and body (h29e435ebc131335e_31_0)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90" name="Google Shape;90;p14"/>
          <p:cNvSpPr txBox="1"/>
          <p:nvPr>
            <p:ph idx="1" type="body"/>
          </p:nvPr>
        </p:nvSpPr>
        <p:spPr>
          <a:xfrm>
            <a:off x="804168" y="2291896"/>
            <a:ext cx="84762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h29e435ebc131335e_38_0)">
  <p:cSld name="Title and body (h29e435ebc131335e_38_0)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94" name="Google Shape;94;p15"/>
          <p:cNvSpPr txBox="1"/>
          <p:nvPr>
            <p:ph idx="1" type="body"/>
          </p:nvPr>
        </p:nvSpPr>
        <p:spPr>
          <a:xfrm>
            <a:off x="804168" y="2291896"/>
            <a:ext cx="84762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95" name="Google Shape;95;p15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h29e435ebc131335e_45_0)">
  <p:cSld name="Title and body (h29e435ebc131335e_45_0)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98" name="Google Shape;98;p16"/>
          <p:cNvSpPr txBox="1"/>
          <p:nvPr>
            <p:ph idx="1" type="body"/>
          </p:nvPr>
        </p:nvSpPr>
        <p:spPr>
          <a:xfrm>
            <a:off x="804168" y="2291896"/>
            <a:ext cx="84762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99" name="Google Shape;99;p16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h29e435ebc131335e_53_0)">
  <p:cSld name="Title and body (h29e435ebc131335e_53_0)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102" name="Google Shape;102;p17"/>
          <p:cNvSpPr txBox="1"/>
          <p:nvPr>
            <p:ph idx="1" type="body"/>
          </p:nvPr>
        </p:nvSpPr>
        <p:spPr>
          <a:xfrm>
            <a:off x="804168" y="2291896"/>
            <a:ext cx="84762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03" name="Google Shape;103;p17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h29e435ebc131335e_60_0)">
  <p:cSld name="Title and body (h29e435ebc131335e_60_0)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106" name="Google Shape;106;p18"/>
          <p:cNvSpPr txBox="1"/>
          <p:nvPr>
            <p:ph idx="1" type="body"/>
          </p:nvPr>
        </p:nvSpPr>
        <p:spPr>
          <a:xfrm>
            <a:off x="804168" y="2291896"/>
            <a:ext cx="84762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07" name="Google Shape;107;p18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h29e435ebc131335e_67_0)">
  <p:cSld name="Title and body (h29e435ebc131335e_67_0)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804168" y="2291896"/>
            <a:ext cx="8476200" cy="2492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11" name="Google Shape;111;p19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43628" y="490626"/>
            <a:ext cx="9393300" cy="6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100800" lIns="100800" spcFirstLastPara="1" rIns="100800" wrap="square" tIns="1008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Raleway"/>
              <a:buNone/>
              <a:defRPr b="1" sz="31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43628" y="1270568"/>
            <a:ext cx="9393300" cy="37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100800" lIns="100800" spcFirstLastPara="1" rIns="100800" wrap="square" tIns="100800">
            <a:normAutofit/>
          </a:bodyPr>
          <a:lstStyle>
            <a:lvl1pPr indent="-3175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Lato"/>
              <a:buChar char="●"/>
              <a:defRPr sz="14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○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■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●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○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■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●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○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Lato"/>
              <a:buChar char="■"/>
              <a:defRPr sz="1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410681" y="5236564"/>
            <a:ext cx="604800" cy="4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0800" lIns="100800" spcFirstLastPara="1" rIns="100800" wrap="square" tIns="100800">
            <a:normAutofit/>
          </a:bodyPr>
          <a:lstStyle>
            <a:lvl1pPr lvl="0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/>
          <p:nvPr/>
        </p:nvSpPr>
        <p:spPr>
          <a:xfrm>
            <a:off x="0" y="0"/>
            <a:ext cx="10077600" cy="114300"/>
          </a:xfrm>
          <a:prstGeom prst="rect">
            <a:avLst/>
          </a:prstGeom>
          <a:solidFill>
            <a:srgbClr val="1A99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20"/>
          <p:cNvSpPr/>
          <p:nvPr/>
        </p:nvSpPr>
        <p:spPr>
          <a:xfrm>
            <a:off x="0" y="0"/>
            <a:ext cx="3048000" cy="114300"/>
          </a:xfrm>
          <a:prstGeom prst="rect">
            <a:avLst/>
          </a:prstGeom>
          <a:solidFill>
            <a:srgbClr val="EB56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0"/>
          <p:cNvSpPr txBox="1"/>
          <p:nvPr>
            <p:ph type="title"/>
          </p:nvPr>
        </p:nvSpPr>
        <p:spPr>
          <a:xfrm>
            <a:off x="762000" y="1333500"/>
            <a:ext cx="4953000" cy="24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rPr>
              <a:t>VIZE PROJEKTU</a:t>
            </a:r>
            <a:endParaRPr b="1" i="0" sz="1600">
              <a:solidFill>
                <a:srgbClr val="EB56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0"/>
          <p:cNvSpPr txBox="1"/>
          <p:nvPr>
            <p:ph idx="1" type="subTitle"/>
          </p:nvPr>
        </p:nvSpPr>
        <p:spPr>
          <a:xfrm>
            <a:off x="762000" y="1905000"/>
            <a:ext cx="5143500" cy="179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1417"/>
              </a:spcBef>
              <a:spcAft>
                <a:spcPts val="0"/>
              </a:spcAft>
              <a:buNone/>
            </a:pPr>
            <a:r>
              <a:rPr b="1" i="0" lang="en-US" sz="3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Evidence pro Speedcubing soutěže</a:t>
            </a:r>
            <a:endParaRPr b="1" i="0" sz="38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1300"/>
              </a:spcAft>
              <a:buNone/>
            </a:pPr>
            <a:r>
              <a:rPr b="0" i="0" lang="en-US" sz="1400">
                <a:solidFill>
                  <a:srgbClr val="334155"/>
                </a:solidFill>
                <a:highlight>
                  <a:srgbClr val="E9EDEE"/>
                </a:highlight>
                <a:latin typeface="Arial"/>
                <a:ea typeface="Arial"/>
                <a:cs typeface="Arial"/>
                <a:sym typeface="Arial"/>
              </a:rPr>
              <a:t>Autor: </a:t>
            </a:r>
            <a:r>
              <a:rPr b="1" i="0" lang="en-US" sz="1400">
                <a:solidFill>
                  <a:srgbClr val="0F172A"/>
                </a:solidFill>
                <a:highlight>
                  <a:srgbClr val="E9EDEE"/>
                </a:highlight>
                <a:latin typeface="Arial"/>
                <a:ea typeface="Arial"/>
                <a:cs typeface="Arial"/>
                <a:sym typeface="Arial"/>
              </a:rPr>
              <a:t>Filip Štegner</a:t>
            </a:r>
            <a:r>
              <a:rPr b="0" i="0" lang="en-US" sz="1400">
                <a:solidFill>
                  <a:srgbClr val="334155"/>
                </a:solidFill>
                <a:highlight>
                  <a:srgbClr val="E9EDEE"/>
                </a:highlight>
                <a:latin typeface="Arial"/>
                <a:ea typeface="Arial"/>
                <a:cs typeface="Arial"/>
                <a:sym typeface="Arial"/>
              </a:rPr>
              <a:t> | STE0610</a:t>
            </a:r>
            <a:endParaRPr b="1" i="0" sz="3800">
              <a:solidFill>
                <a:srgbClr val="0F172A"/>
              </a:solidFill>
              <a:highlight>
                <a:srgbClr val="E9EDEE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" name="Google Shape;120;p20"/>
          <p:cNvGrpSpPr/>
          <p:nvPr/>
        </p:nvGrpSpPr>
        <p:grpSpPr>
          <a:xfrm>
            <a:off x="6286500" y="1047750"/>
            <a:ext cx="3143400" cy="3686100"/>
            <a:chOff x="0" y="0"/>
            <a:chExt cx="3143400" cy="3686100"/>
          </a:xfrm>
        </p:grpSpPr>
        <p:sp>
          <p:nvSpPr>
            <p:cNvPr id="121" name="Google Shape;121;p20"/>
            <p:cNvSpPr/>
            <p:nvPr/>
          </p:nvSpPr>
          <p:spPr>
            <a:xfrm>
              <a:off x="114300" y="114300"/>
              <a:ext cx="3029100" cy="3571800"/>
            </a:xfrm>
            <a:prstGeom prst="roundRect">
              <a:avLst>
                <a:gd fmla="val 5031" name="adj"/>
              </a:avLst>
            </a:prstGeom>
            <a:solidFill>
              <a:srgbClr val="1A9988">
                <a:alpha val="8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A sleek, modern, colorful Speedcube (3x3 Rubik's cube) resting on a clean minimalist surface with subtle soft studio lighting and dynamic angle, vibrant cyan, orange and red colors" id="122" name="Google Shape;122;p20"/>
            <p:cNvPicPr preferRelativeResize="0"/>
            <p:nvPr/>
          </p:nvPicPr>
          <p:blipFill rotWithShape="1">
            <a:blip r:embed="rId4">
              <a:alphaModFix/>
            </a:blip>
            <a:srcRect b="5784" l="0" r="0" t="5775"/>
            <a:stretch/>
          </p:blipFill>
          <p:spPr>
            <a:xfrm>
              <a:off x="0" y="0"/>
              <a:ext cx="3029100" cy="3571800"/>
            </a:xfrm>
            <a:prstGeom prst="roundRect">
              <a:avLst>
                <a:gd fmla="val 5031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/>
          <p:nvPr/>
        </p:nvSpPr>
        <p:spPr>
          <a:xfrm>
            <a:off x="0" y="0"/>
            <a:ext cx="10077600" cy="114300"/>
          </a:xfrm>
          <a:prstGeom prst="rect">
            <a:avLst/>
          </a:prstGeom>
          <a:solidFill>
            <a:srgbClr val="1A99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1"/>
          <p:cNvSpPr/>
          <p:nvPr/>
        </p:nvSpPr>
        <p:spPr>
          <a:xfrm>
            <a:off x="0" y="0"/>
            <a:ext cx="3048000" cy="114300"/>
          </a:xfrm>
          <a:prstGeom prst="rect">
            <a:avLst/>
          </a:prstGeom>
          <a:solidFill>
            <a:srgbClr val="EB56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1"/>
          <p:cNvSpPr txBox="1"/>
          <p:nvPr>
            <p:ph type="title"/>
          </p:nvPr>
        </p:nvSpPr>
        <p:spPr>
          <a:xfrm>
            <a:off x="762000" y="428625"/>
            <a:ext cx="47625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rPr>
              <a:t>CO?</a:t>
            </a:r>
            <a:endParaRPr b="1" sz="1400">
              <a:solidFill>
                <a:srgbClr val="EB56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1"/>
          <p:cNvSpPr txBox="1"/>
          <p:nvPr>
            <p:ph idx="1" type="body"/>
          </p:nvPr>
        </p:nvSpPr>
        <p:spPr>
          <a:xfrm>
            <a:off x="762000" y="762000"/>
            <a:ext cx="85536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300"/>
              </a:spcAft>
              <a:buNone/>
            </a:pPr>
            <a:r>
              <a:rPr b="1" lang="en-US" sz="2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Jaká data systém eviduje?</a:t>
            </a:r>
            <a:endParaRPr b="1" sz="26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1" name="Google Shape;131;p21"/>
          <p:cNvGrpSpPr/>
          <p:nvPr/>
        </p:nvGrpSpPr>
        <p:grpSpPr>
          <a:xfrm>
            <a:off x="762000" y="1524000"/>
            <a:ext cx="1952700" cy="1571700"/>
            <a:chOff x="0" y="0"/>
            <a:chExt cx="1952700" cy="1571700"/>
          </a:xfrm>
        </p:grpSpPr>
        <p:sp>
          <p:nvSpPr>
            <p:cNvPr id="132" name="Google Shape;132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Soutěže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Evidence pořádaných soutěží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5" name="Google Shape;135;p21"/>
          <p:cNvGrpSpPr/>
          <p:nvPr/>
        </p:nvGrpSpPr>
        <p:grpSpPr>
          <a:xfrm>
            <a:off x="2962275" y="1524000"/>
            <a:ext cx="1952700" cy="1571700"/>
            <a:chOff x="0" y="0"/>
            <a:chExt cx="1952700" cy="1571700"/>
          </a:xfrm>
        </p:grpSpPr>
        <p:sp>
          <p:nvSpPr>
            <p:cNvPr id="136" name="Google Shape;136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Soutěžící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Registrace a profily účastníků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9" name="Google Shape;139;p21"/>
          <p:cNvGrpSpPr/>
          <p:nvPr/>
        </p:nvGrpSpPr>
        <p:grpSpPr>
          <a:xfrm>
            <a:off x="5162550" y="1524000"/>
            <a:ext cx="1952700" cy="1571700"/>
            <a:chOff x="0" y="0"/>
            <a:chExt cx="1952700" cy="1571700"/>
          </a:xfrm>
        </p:grpSpPr>
        <p:sp>
          <p:nvSpPr>
            <p:cNvPr id="140" name="Google Shape;140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Disciplíny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Např. 3×3×3, 2×2×2, 4×4×4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3" name="Google Shape;143;p21"/>
          <p:cNvGrpSpPr/>
          <p:nvPr/>
        </p:nvGrpSpPr>
        <p:grpSpPr>
          <a:xfrm>
            <a:off x="7362825" y="1524000"/>
            <a:ext cx="1952700" cy="1571700"/>
            <a:chOff x="0" y="0"/>
            <a:chExt cx="1952700" cy="1571700"/>
          </a:xfrm>
        </p:grpSpPr>
        <p:sp>
          <p:nvSpPr>
            <p:cNvPr id="144" name="Google Shape;144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Kola soutěže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Struktura a průběh kol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7" name="Google Shape;147;p21"/>
          <p:cNvGrpSpPr/>
          <p:nvPr/>
        </p:nvGrpSpPr>
        <p:grpSpPr>
          <a:xfrm>
            <a:off x="762000" y="3333750"/>
            <a:ext cx="1952700" cy="1571700"/>
            <a:chOff x="0" y="0"/>
            <a:chExt cx="1952700" cy="1571700"/>
          </a:xfrm>
        </p:grpSpPr>
        <p:sp>
          <p:nvSpPr>
            <p:cNvPr id="148" name="Google Shape;148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65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05</a:t>
              </a:r>
              <a:endParaRPr b="1" sz="1665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388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Jednotlivé pokusy</a:t>
              </a:r>
              <a:endParaRPr b="1" sz="1388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18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Záznam samostatných řešení</a:t>
              </a:r>
              <a:endParaRPr sz="1018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1" name="Google Shape;151;p21"/>
          <p:cNvGrpSpPr/>
          <p:nvPr/>
        </p:nvGrpSpPr>
        <p:grpSpPr>
          <a:xfrm>
            <a:off x="2962275" y="3333750"/>
            <a:ext cx="1952700" cy="1571700"/>
            <a:chOff x="0" y="0"/>
            <a:chExt cx="1952700" cy="1571700"/>
          </a:xfrm>
        </p:grpSpPr>
        <p:sp>
          <p:nvSpPr>
            <p:cNvPr id="152" name="Google Shape;152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06</a:t>
              </a:r>
              <a:endParaRPr b="1" sz="18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Naměřené časy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Přesné časy z timerů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5" name="Google Shape;155;p21"/>
          <p:cNvGrpSpPr/>
          <p:nvPr/>
        </p:nvGrpSpPr>
        <p:grpSpPr>
          <a:xfrm>
            <a:off x="5162550" y="3333750"/>
            <a:ext cx="1952700" cy="1571700"/>
            <a:chOff x="0" y="0"/>
            <a:chExt cx="1952700" cy="1571700"/>
          </a:xfrm>
        </p:grpSpPr>
        <p:sp>
          <p:nvSpPr>
            <p:cNvPr id="156" name="Google Shape;156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1" sz="18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Výsledky a pořadí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Výpočty průměrů a žebříčky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9" name="Google Shape;159;p21"/>
          <p:cNvGrpSpPr/>
          <p:nvPr/>
        </p:nvGrpSpPr>
        <p:grpSpPr>
          <a:xfrm>
            <a:off x="7362825" y="3333750"/>
            <a:ext cx="1952700" cy="1571700"/>
            <a:chOff x="0" y="0"/>
            <a:chExt cx="1952700" cy="1571700"/>
          </a:xfrm>
        </p:grpSpPr>
        <p:sp>
          <p:nvSpPr>
            <p:cNvPr id="160" name="Google Shape;160;p21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1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1"/>
            <p:cNvSpPr txBox="1"/>
            <p:nvPr/>
          </p:nvSpPr>
          <p:spPr>
            <a:xfrm>
              <a:off x="152400" y="190500"/>
              <a:ext cx="16479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08</a:t>
              </a:r>
              <a:endParaRPr b="1" sz="18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Penalizace &amp; Čas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Případně DNF a extra čas</a:t>
              </a:r>
              <a:endParaRPr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2"/>
          <p:cNvSpPr/>
          <p:nvPr/>
        </p:nvSpPr>
        <p:spPr>
          <a:xfrm>
            <a:off x="0" y="0"/>
            <a:ext cx="10077600" cy="114300"/>
          </a:xfrm>
          <a:prstGeom prst="rect">
            <a:avLst/>
          </a:prstGeom>
          <a:solidFill>
            <a:srgbClr val="1A99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2"/>
          <p:cNvSpPr/>
          <p:nvPr/>
        </p:nvSpPr>
        <p:spPr>
          <a:xfrm>
            <a:off x="0" y="0"/>
            <a:ext cx="3048000" cy="114300"/>
          </a:xfrm>
          <a:prstGeom prst="rect">
            <a:avLst/>
          </a:prstGeom>
          <a:solidFill>
            <a:srgbClr val="EB56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9" name="Google Shape;169;p22"/>
          <p:cNvGrpSpPr/>
          <p:nvPr/>
        </p:nvGrpSpPr>
        <p:grpSpPr>
          <a:xfrm>
            <a:off x="762000" y="428625"/>
            <a:ext cx="4762500" cy="215400"/>
            <a:chOff x="0" y="0"/>
            <a:chExt cx="4762500" cy="215400"/>
          </a:xfrm>
        </p:grpSpPr>
        <p:sp>
          <p:nvSpPr>
            <p:cNvPr id="170" name="Google Shape;170;p22"/>
            <p:cNvSpPr/>
            <p:nvPr/>
          </p:nvSpPr>
          <p:spPr>
            <a:xfrm>
              <a:off x="0" y="0"/>
              <a:ext cx="4762500" cy="215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22"/>
            <p:cNvSpPr txBox="1"/>
            <p:nvPr/>
          </p:nvSpPr>
          <p:spPr>
            <a:xfrm>
              <a:off x="0" y="0"/>
              <a:ext cx="47625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JAK?</a:t>
              </a:r>
              <a:endParaRPr b="1" sz="14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" name="Google Shape;172;p22"/>
          <p:cNvGrpSpPr/>
          <p:nvPr/>
        </p:nvGrpSpPr>
        <p:grpSpPr>
          <a:xfrm>
            <a:off x="762000" y="762000"/>
            <a:ext cx="8553600" cy="476400"/>
            <a:chOff x="0" y="0"/>
            <a:chExt cx="8553600" cy="476400"/>
          </a:xfrm>
        </p:grpSpPr>
        <p:sp>
          <p:nvSpPr>
            <p:cNvPr id="173" name="Google Shape;173;p22"/>
            <p:cNvSpPr/>
            <p:nvPr/>
          </p:nvSpPr>
          <p:spPr>
            <a:xfrm>
              <a:off x="0" y="0"/>
              <a:ext cx="8553600" cy="476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2"/>
            <p:cNvSpPr txBox="1"/>
            <p:nvPr/>
          </p:nvSpPr>
          <p:spPr>
            <a:xfrm>
              <a:off x="0" y="0"/>
              <a:ext cx="85536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Jaké procesy se s informacemi provádějí?</a:t>
              </a:r>
              <a:endParaRPr b="1" sz="2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5" name="Google Shape;175;p22"/>
          <p:cNvGrpSpPr/>
          <p:nvPr/>
        </p:nvGrpSpPr>
        <p:grpSpPr>
          <a:xfrm>
            <a:off x="762000" y="1524000"/>
            <a:ext cx="1952700" cy="1571700"/>
            <a:chOff x="0" y="0"/>
            <a:chExt cx="1952700" cy="1571700"/>
          </a:xfrm>
        </p:grpSpPr>
        <p:sp>
          <p:nvSpPr>
            <p:cNvPr id="176" name="Google Shape;176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registrace soutěžících na soutěž a jednotlivé disciplíny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" name="Google Shape;179;p22"/>
          <p:cNvGrpSpPr/>
          <p:nvPr/>
        </p:nvGrpSpPr>
        <p:grpSpPr>
          <a:xfrm>
            <a:off x="2962275" y="1524000"/>
            <a:ext cx="1952700" cy="1571700"/>
            <a:chOff x="0" y="0"/>
            <a:chExt cx="1952700" cy="1571700"/>
          </a:xfrm>
        </p:grpSpPr>
        <p:sp>
          <p:nvSpPr>
            <p:cNvPr id="180" name="Google Shape;180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vytvoření soutěže a jejích disciplín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3" name="Google Shape;183;p22"/>
          <p:cNvGrpSpPr/>
          <p:nvPr/>
        </p:nvGrpSpPr>
        <p:grpSpPr>
          <a:xfrm>
            <a:off x="5162550" y="1524000"/>
            <a:ext cx="1952700" cy="1571700"/>
            <a:chOff x="0" y="0"/>
            <a:chExt cx="1952700" cy="1571700"/>
          </a:xfrm>
        </p:grpSpPr>
        <p:sp>
          <p:nvSpPr>
            <p:cNvPr id="184" name="Google Shape;184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vytvoření jednotlivých kol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7" name="Google Shape;187;p22"/>
          <p:cNvGrpSpPr/>
          <p:nvPr/>
        </p:nvGrpSpPr>
        <p:grpSpPr>
          <a:xfrm>
            <a:off x="7362825" y="1524000"/>
            <a:ext cx="1952700" cy="1571700"/>
            <a:chOff x="0" y="0"/>
            <a:chExt cx="1952700" cy="1571700"/>
          </a:xfrm>
        </p:grpSpPr>
        <p:sp>
          <p:nvSpPr>
            <p:cNvPr id="188" name="Google Shape;188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18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zadávání výsledků jednotlivých pokusů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1" name="Google Shape;191;p22"/>
          <p:cNvGrpSpPr/>
          <p:nvPr/>
        </p:nvGrpSpPr>
        <p:grpSpPr>
          <a:xfrm>
            <a:off x="762000" y="3333750"/>
            <a:ext cx="1952700" cy="1571700"/>
            <a:chOff x="0" y="0"/>
            <a:chExt cx="1952700" cy="1571700"/>
          </a:xfrm>
        </p:grpSpPr>
        <p:sp>
          <p:nvSpPr>
            <p:cNvPr id="192" name="Google Shape;192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05</a:t>
              </a:r>
              <a:endParaRPr b="1" sz="18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evidence penalizací, DNF a extra času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5" name="Google Shape;195;p22"/>
          <p:cNvGrpSpPr/>
          <p:nvPr/>
        </p:nvGrpSpPr>
        <p:grpSpPr>
          <a:xfrm>
            <a:off x="2962275" y="3333750"/>
            <a:ext cx="1952700" cy="1571700"/>
            <a:chOff x="0" y="0"/>
            <a:chExt cx="1952700" cy="1571700"/>
          </a:xfrm>
        </p:grpSpPr>
        <p:sp>
          <p:nvSpPr>
            <p:cNvPr id="196" name="Google Shape;196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06</a:t>
              </a:r>
              <a:endParaRPr b="1" sz="18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výpočet výsledku soutěžícího v daném kole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" name="Google Shape;199;p22"/>
          <p:cNvGrpSpPr/>
          <p:nvPr/>
        </p:nvGrpSpPr>
        <p:grpSpPr>
          <a:xfrm>
            <a:off x="5162550" y="3333750"/>
            <a:ext cx="1952700" cy="1571700"/>
            <a:chOff x="0" y="0"/>
            <a:chExt cx="1952700" cy="1571700"/>
          </a:xfrm>
        </p:grpSpPr>
        <p:sp>
          <p:nvSpPr>
            <p:cNvPr id="200" name="Google Shape;200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1" sz="18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sestavení pořadí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7362825" y="3333750"/>
            <a:ext cx="1952700" cy="1571700"/>
            <a:chOff x="0" y="0"/>
            <a:chExt cx="1952700" cy="15717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0"/>
              <a:ext cx="1952700" cy="15717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1952700" cy="38100"/>
            </a:xfrm>
            <a:prstGeom prst="roundRect">
              <a:avLst>
                <a:gd fmla="val 5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22"/>
            <p:cNvSpPr txBox="1"/>
            <p:nvPr/>
          </p:nvSpPr>
          <p:spPr>
            <a:xfrm>
              <a:off x="152400" y="171450"/>
              <a:ext cx="1647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08</a:t>
              </a:r>
              <a:endParaRPr b="1" sz="18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určení postupujících do dalšího kola</a:t>
              </a:r>
              <a:endParaRPr b="0" sz="11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3"/>
          <p:cNvSpPr/>
          <p:nvPr/>
        </p:nvSpPr>
        <p:spPr>
          <a:xfrm>
            <a:off x="0" y="0"/>
            <a:ext cx="10077600" cy="114300"/>
          </a:xfrm>
          <a:prstGeom prst="rect">
            <a:avLst/>
          </a:prstGeom>
          <a:solidFill>
            <a:srgbClr val="1A99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3"/>
          <p:cNvSpPr/>
          <p:nvPr/>
        </p:nvSpPr>
        <p:spPr>
          <a:xfrm>
            <a:off x="0" y="0"/>
            <a:ext cx="3048000" cy="114300"/>
          </a:xfrm>
          <a:prstGeom prst="rect">
            <a:avLst/>
          </a:prstGeom>
          <a:solidFill>
            <a:srgbClr val="EB56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3"/>
          <p:cNvSpPr txBox="1"/>
          <p:nvPr/>
        </p:nvSpPr>
        <p:spPr>
          <a:xfrm>
            <a:off x="762000" y="428625"/>
            <a:ext cx="47625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rPr>
              <a:t>KDE?</a:t>
            </a:r>
            <a:endParaRPr b="1" sz="1400">
              <a:solidFill>
                <a:srgbClr val="EB56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3"/>
          <p:cNvSpPr txBox="1"/>
          <p:nvPr/>
        </p:nvSpPr>
        <p:spPr>
          <a:xfrm>
            <a:off x="762000" y="762000"/>
            <a:ext cx="855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Na jakých místech se s informacemi pracuje?</a:t>
            </a:r>
            <a:endParaRPr b="1" sz="26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5" name="Google Shape;215;p23"/>
          <p:cNvGrpSpPr/>
          <p:nvPr/>
        </p:nvGrpSpPr>
        <p:grpSpPr>
          <a:xfrm>
            <a:off x="762000" y="1619250"/>
            <a:ext cx="2648100" cy="2667000"/>
            <a:chOff x="0" y="0"/>
            <a:chExt cx="2648100" cy="2667000"/>
          </a:xfrm>
        </p:grpSpPr>
        <p:sp>
          <p:nvSpPr>
            <p:cNvPr id="216" name="Google Shape;216;p23"/>
            <p:cNvSpPr/>
            <p:nvPr/>
          </p:nvSpPr>
          <p:spPr>
            <a:xfrm>
              <a:off x="0" y="0"/>
              <a:ext cx="2648100" cy="2667000"/>
            </a:xfrm>
            <a:prstGeom prst="roundRect">
              <a:avLst>
                <a:gd fmla="val 431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3"/>
            <p:cNvSpPr/>
            <p:nvPr/>
          </p:nvSpPr>
          <p:spPr>
            <a:xfrm>
              <a:off x="0" y="0"/>
              <a:ext cx="2648100" cy="477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3"/>
            <p:cNvSpPr txBox="1"/>
            <p:nvPr/>
          </p:nvSpPr>
          <p:spPr>
            <a:xfrm>
              <a:off x="228600" y="266700"/>
              <a:ext cx="2190900" cy="21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20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Místo konání</a:t>
              </a:r>
              <a:endParaRPr b="1" sz="1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na místě konání soutěže</a:t>
              </a:r>
              <a:endParaRPr b="0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9" name="Google Shape;219;p23"/>
          <p:cNvGrpSpPr/>
          <p:nvPr/>
        </p:nvGrpSpPr>
        <p:grpSpPr>
          <a:xfrm>
            <a:off x="3714750" y="1619250"/>
            <a:ext cx="2648100" cy="2667000"/>
            <a:chOff x="0" y="0"/>
            <a:chExt cx="2648100" cy="2667000"/>
          </a:xfrm>
        </p:grpSpPr>
        <p:sp>
          <p:nvSpPr>
            <p:cNvPr id="220" name="Google Shape;220;p23"/>
            <p:cNvSpPr/>
            <p:nvPr/>
          </p:nvSpPr>
          <p:spPr>
            <a:xfrm>
              <a:off x="0" y="0"/>
              <a:ext cx="2648100" cy="2667000"/>
            </a:xfrm>
            <a:prstGeom prst="roundRect">
              <a:avLst>
                <a:gd fmla="val 431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23"/>
            <p:cNvSpPr/>
            <p:nvPr/>
          </p:nvSpPr>
          <p:spPr>
            <a:xfrm>
              <a:off x="0" y="0"/>
              <a:ext cx="2648100" cy="477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23"/>
            <p:cNvSpPr txBox="1"/>
            <p:nvPr/>
          </p:nvSpPr>
          <p:spPr>
            <a:xfrm>
              <a:off x="228600" y="266700"/>
              <a:ext cx="2190900" cy="21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20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Stanoviště</a:t>
              </a:r>
              <a:endParaRPr b="1" sz="1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u jednotlivých stanovišť</a:t>
              </a:r>
              <a:endParaRPr b="0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3" name="Google Shape;223;p23"/>
          <p:cNvGrpSpPr/>
          <p:nvPr/>
        </p:nvGrpSpPr>
        <p:grpSpPr>
          <a:xfrm>
            <a:off x="6667500" y="1619250"/>
            <a:ext cx="2648100" cy="2667000"/>
            <a:chOff x="0" y="0"/>
            <a:chExt cx="2648100" cy="2667000"/>
          </a:xfrm>
        </p:grpSpPr>
        <p:sp>
          <p:nvSpPr>
            <p:cNvPr id="224" name="Google Shape;224;p23"/>
            <p:cNvSpPr/>
            <p:nvPr/>
          </p:nvSpPr>
          <p:spPr>
            <a:xfrm>
              <a:off x="0" y="0"/>
              <a:ext cx="2648100" cy="2667000"/>
            </a:xfrm>
            <a:prstGeom prst="roundRect">
              <a:avLst>
                <a:gd fmla="val 431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3"/>
            <p:cNvSpPr/>
            <p:nvPr/>
          </p:nvSpPr>
          <p:spPr>
            <a:xfrm>
              <a:off x="0" y="0"/>
              <a:ext cx="2648100" cy="477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3"/>
            <p:cNvSpPr txBox="1"/>
            <p:nvPr/>
          </p:nvSpPr>
          <p:spPr>
            <a:xfrm>
              <a:off x="228600" y="266700"/>
              <a:ext cx="2190900" cy="213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20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Registrace a organizace</a:t>
              </a:r>
              <a:endParaRPr b="1" sz="1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u registračního nebo organizačního stanoviště</a:t>
              </a:r>
              <a:endParaRPr b="0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4"/>
          <p:cNvSpPr/>
          <p:nvPr/>
        </p:nvSpPr>
        <p:spPr>
          <a:xfrm>
            <a:off x="0" y="0"/>
            <a:ext cx="10077600" cy="114300"/>
          </a:xfrm>
          <a:prstGeom prst="rect">
            <a:avLst/>
          </a:prstGeom>
          <a:solidFill>
            <a:srgbClr val="1A99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4"/>
          <p:cNvSpPr/>
          <p:nvPr/>
        </p:nvSpPr>
        <p:spPr>
          <a:xfrm>
            <a:off x="0" y="0"/>
            <a:ext cx="3048000" cy="114300"/>
          </a:xfrm>
          <a:prstGeom prst="rect">
            <a:avLst/>
          </a:prstGeom>
          <a:solidFill>
            <a:srgbClr val="EB56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3" name="Google Shape;233;p24"/>
          <p:cNvGrpSpPr/>
          <p:nvPr/>
        </p:nvGrpSpPr>
        <p:grpSpPr>
          <a:xfrm>
            <a:off x="762000" y="428625"/>
            <a:ext cx="4762500" cy="238200"/>
            <a:chOff x="0" y="0"/>
            <a:chExt cx="4762500" cy="238200"/>
          </a:xfrm>
        </p:grpSpPr>
        <p:sp>
          <p:nvSpPr>
            <p:cNvPr id="234" name="Google Shape;234;p24"/>
            <p:cNvSpPr/>
            <p:nvPr/>
          </p:nvSpPr>
          <p:spPr>
            <a:xfrm>
              <a:off x="0" y="0"/>
              <a:ext cx="4762500" cy="238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4"/>
            <p:cNvSpPr txBox="1"/>
            <p:nvPr/>
          </p:nvSpPr>
          <p:spPr>
            <a:xfrm>
              <a:off x="0" y="0"/>
              <a:ext cx="476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KDO?</a:t>
              </a:r>
              <a:endParaRPr b="1" sz="14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6" name="Google Shape;236;p24"/>
          <p:cNvGrpSpPr/>
          <p:nvPr/>
        </p:nvGrpSpPr>
        <p:grpSpPr>
          <a:xfrm>
            <a:off x="762000" y="762000"/>
            <a:ext cx="8553600" cy="476400"/>
            <a:chOff x="0" y="0"/>
            <a:chExt cx="8553600" cy="476400"/>
          </a:xfrm>
        </p:grpSpPr>
        <p:sp>
          <p:nvSpPr>
            <p:cNvPr id="237" name="Google Shape;237;p24"/>
            <p:cNvSpPr/>
            <p:nvPr/>
          </p:nvSpPr>
          <p:spPr>
            <a:xfrm>
              <a:off x="0" y="0"/>
              <a:ext cx="8553600" cy="476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24"/>
            <p:cNvSpPr txBox="1"/>
            <p:nvPr/>
          </p:nvSpPr>
          <p:spPr>
            <a:xfrm>
              <a:off x="0" y="0"/>
              <a:ext cx="85536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Kdo se systémem pracuje a v jaké roli?</a:t>
              </a:r>
              <a:endParaRPr b="1" sz="2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9" name="Google Shape;239;p24"/>
          <p:cNvGrpSpPr/>
          <p:nvPr/>
        </p:nvGrpSpPr>
        <p:grpSpPr>
          <a:xfrm>
            <a:off x="762000" y="1619250"/>
            <a:ext cx="1952700" cy="2667000"/>
            <a:chOff x="0" y="0"/>
            <a:chExt cx="1952700" cy="2667000"/>
          </a:xfrm>
        </p:grpSpPr>
        <p:sp>
          <p:nvSpPr>
            <p:cNvPr id="240" name="Google Shape;240;p24"/>
            <p:cNvSpPr/>
            <p:nvPr/>
          </p:nvSpPr>
          <p:spPr>
            <a:xfrm>
              <a:off x="0" y="0"/>
              <a:ext cx="1952700" cy="2667000"/>
            </a:xfrm>
            <a:prstGeom prst="roundRect">
              <a:avLst>
                <a:gd fmla="val 585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24"/>
            <p:cNvSpPr/>
            <p:nvPr/>
          </p:nvSpPr>
          <p:spPr>
            <a:xfrm>
              <a:off x="0" y="0"/>
              <a:ext cx="1952700" cy="477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4"/>
            <p:cNvSpPr txBox="1"/>
            <p:nvPr/>
          </p:nvSpPr>
          <p:spPr>
            <a:xfrm>
              <a:off x="190500" y="228600"/>
              <a:ext cx="1571700" cy="22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20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Soutěžící</a:t>
              </a:r>
              <a:endParaRPr b="1" sz="1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registruje se do soutěže a sleduje své výsledky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3" name="Google Shape;243;p24"/>
          <p:cNvGrpSpPr/>
          <p:nvPr/>
        </p:nvGrpSpPr>
        <p:grpSpPr>
          <a:xfrm>
            <a:off x="2962275" y="1619250"/>
            <a:ext cx="1952700" cy="2667000"/>
            <a:chOff x="0" y="0"/>
            <a:chExt cx="1952700" cy="2667000"/>
          </a:xfrm>
        </p:grpSpPr>
        <p:sp>
          <p:nvSpPr>
            <p:cNvPr id="244" name="Google Shape;244;p24"/>
            <p:cNvSpPr/>
            <p:nvPr/>
          </p:nvSpPr>
          <p:spPr>
            <a:xfrm>
              <a:off x="0" y="0"/>
              <a:ext cx="1952700" cy="2667000"/>
            </a:xfrm>
            <a:prstGeom prst="roundRect">
              <a:avLst>
                <a:gd fmla="val 585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24"/>
            <p:cNvSpPr/>
            <p:nvPr/>
          </p:nvSpPr>
          <p:spPr>
            <a:xfrm>
              <a:off x="0" y="0"/>
              <a:ext cx="1952700" cy="477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24"/>
            <p:cNvSpPr txBox="1"/>
            <p:nvPr/>
          </p:nvSpPr>
          <p:spPr>
            <a:xfrm>
              <a:off x="190500" y="228600"/>
              <a:ext cx="1571700" cy="22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20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Rozhodčí</a:t>
              </a:r>
              <a:endParaRPr b="1" sz="1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dohlíží na jednotlivé pokusy a potvrzuje jejich výsledek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7" name="Google Shape;247;p24"/>
          <p:cNvGrpSpPr/>
          <p:nvPr/>
        </p:nvGrpSpPr>
        <p:grpSpPr>
          <a:xfrm>
            <a:off x="5162550" y="1619250"/>
            <a:ext cx="1952700" cy="2667000"/>
            <a:chOff x="0" y="0"/>
            <a:chExt cx="1952700" cy="2667000"/>
          </a:xfrm>
        </p:grpSpPr>
        <p:sp>
          <p:nvSpPr>
            <p:cNvPr id="248" name="Google Shape;248;p24"/>
            <p:cNvSpPr/>
            <p:nvPr/>
          </p:nvSpPr>
          <p:spPr>
            <a:xfrm>
              <a:off x="0" y="0"/>
              <a:ext cx="1952700" cy="2667000"/>
            </a:xfrm>
            <a:prstGeom prst="roundRect">
              <a:avLst>
                <a:gd fmla="val 585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4"/>
            <p:cNvSpPr/>
            <p:nvPr/>
          </p:nvSpPr>
          <p:spPr>
            <a:xfrm>
              <a:off x="0" y="0"/>
              <a:ext cx="1952700" cy="477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4"/>
            <p:cNvSpPr txBox="1"/>
            <p:nvPr/>
          </p:nvSpPr>
          <p:spPr>
            <a:xfrm>
              <a:off x="190500" y="228600"/>
              <a:ext cx="1571700" cy="22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20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Zapisovatel</a:t>
              </a:r>
              <a:endParaRPr b="1" sz="16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zadává naměřené výsledky do systému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1" name="Google Shape;251;p24"/>
          <p:cNvGrpSpPr/>
          <p:nvPr/>
        </p:nvGrpSpPr>
        <p:grpSpPr>
          <a:xfrm>
            <a:off x="7362825" y="1619250"/>
            <a:ext cx="1952700" cy="2667000"/>
            <a:chOff x="0" y="0"/>
            <a:chExt cx="1952700" cy="2667000"/>
          </a:xfrm>
        </p:grpSpPr>
        <p:sp>
          <p:nvSpPr>
            <p:cNvPr id="252" name="Google Shape;252;p24"/>
            <p:cNvSpPr/>
            <p:nvPr/>
          </p:nvSpPr>
          <p:spPr>
            <a:xfrm>
              <a:off x="0" y="0"/>
              <a:ext cx="1952700" cy="2667000"/>
            </a:xfrm>
            <a:prstGeom prst="roundRect">
              <a:avLst>
                <a:gd fmla="val 585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24"/>
            <p:cNvSpPr/>
            <p:nvPr/>
          </p:nvSpPr>
          <p:spPr>
            <a:xfrm>
              <a:off x="0" y="0"/>
              <a:ext cx="1952700" cy="477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4"/>
            <p:cNvSpPr txBox="1"/>
            <p:nvPr/>
          </p:nvSpPr>
          <p:spPr>
            <a:xfrm>
              <a:off x="190500" y="228600"/>
              <a:ext cx="1571700" cy="22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200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Organizátor / Administrátor</a:t>
              </a:r>
              <a:endParaRPr b="1" sz="15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spravuje soutěž, disciplíny, kola, účastníky a výsledky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5"/>
          <p:cNvSpPr/>
          <p:nvPr/>
        </p:nvSpPr>
        <p:spPr>
          <a:xfrm>
            <a:off x="0" y="0"/>
            <a:ext cx="10077600" cy="114300"/>
          </a:xfrm>
          <a:prstGeom prst="rect">
            <a:avLst/>
          </a:prstGeom>
          <a:solidFill>
            <a:srgbClr val="1A99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5"/>
          <p:cNvSpPr/>
          <p:nvPr/>
        </p:nvSpPr>
        <p:spPr>
          <a:xfrm>
            <a:off x="0" y="0"/>
            <a:ext cx="3048000" cy="114300"/>
          </a:xfrm>
          <a:prstGeom prst="rect">
            <a:avLst/>
          </a:prstGeom>
          <a:solidFill>
            <a:srgbClr val="EB56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1" name="Google Shape;261;p25"/>
          <p:cNvGrpSpPr/>
          <p:nvPr/>
        </p:nvGrpSpPr>
        <p:grpSpPr>
          <a:xfrm>
            <a:off x="762000" y="400050"/>
            <a:ext cx="4762500" cy="238200"/>
            <a:chOff x="0" y="0"/>
            <a:chExt cx="4762500" cy="238200"/>
          </a:xfrm>
        </p:grpSpPr>
        <p:sp>
          <p:nvSpPr>
            <p:cNvPr id="262" name="Google Shape;262;p25"/>
            <p:cNvSpPr/>
            <p:nvPr/>
          </p:nvSpPr>
          <p:spPr>
            <a:xfrm>
              <a:off x="0" y="0"/>
              <a:ext cx="4762500" cy="238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5"/>
            <p:cNvSpPr txBox="1"/>
            <p:nvPr/>
          </p:nvSpPr>
          <p:spPr>
            <a:xfrm>
              <a:off x="0" y="0"/>
              <a:ext cx="476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KDY?</a:t>
              </a:r>
              <a:endParaRPr b="1" sz="14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4" name="Google Shape;264;p25"/>
          <p:cNvGrpSpPr/>
          <p:nvPr/>
        </p:nvGrpSpPr>
        <p:grpSpPr>
          <a:xfrm>
            <a:off x="762000" y="714375"/>
            <a:ext cx="8553600" cy="428700"/>
            <a:chOff x="0" y="0"/>
            <a:chExt cx="8553600" cy="428700"/>
          </a:xfrm>
        </p:grpSpPr>
        <p:sp>
          <p:nvSpPr>
            <p:cNvPr id="265" name="Google Shape;265;p25"/>
            <p:cNvSpPr/>
            <p:nvPr/>
          </p:nvSpPr>
          <p:spPr>
            <a:xfrm>
              <a:off x="0" y="0"/>
              <a:ext cx="85536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5"/>
            <p:cNvSpPr txBox="1"/>
            <p:nvPr/>
          </p:nvSpPr>
          <p:spPr>
            <a:xfrm>
              <a:off x="0" y="0"/>
              <a:ext cx="85536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2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Kdy a na základě jakých událostí se s informacemi pracuje?</a:t>
              </a:r>
              <a:endParaRPr b="1" sz="222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" name="Google Shape;267;p25"/>
          <p:cNvGrpSpPr/>
          <p:nvPr/>
        </p:nvGrpSpPr>
        <p:grpSpPr>
          <a:xfrm>
            <a:off x="762000" y="1381125"/>
            <a:ext cx="4134000" cy="838200"/>
            <a:chOff x="0" y="0"/>
            <a:chExt cx="4134000" cy="838200"/>
          </a:xfrm>
        </p:grpSpPr>
        <p:sp>
          <p:nvSpPr>
            <p:cNvPr id="268" name="Google Shape;268;p25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5"/>
            <p:cNvSpPr txBox="1"/>
            <p:nvPr/>
          </p:nvSpPr>
          <p:spPr>
            <a:xfrm>
              <a:off x="190500" y="133350"/>
              <a:ext cx="37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12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při vytvoření nové soutěže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1" name="Google Shape;271;p25"/>
          <p:cNvGrpSpPr/>
          <p:nvPr/>
        </p:nvGrpSpPr>
        <p:grpSpPr>
          <a:xfrm>
            <a:off x="762000" y="2362200"/>
            <a:ext cx="4134000" cy="838200"/>
            <a:chOff x="0" y="0"/>
            <a:chExt cx="4134000" cy="838200"/>
          </a:xfrm>
        </p:grpSpPr>
        <p:sp>
          <p:nvSpPr>
            <p:cNvPr id="272" name="Google Shape;272;p25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25"/>
            <p:cNvSpPr txBox="1"/>
            <p:nvPr/>
          </p:nvSpPr>
          <p:spPr>
            <a:xfrm>
              <a:off x="190500" y="133350"/>
              <a:ext cx="37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12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při registraci soutěžícího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5" name="Google Shape;275;p25"/>
          <p:cNvGrpSpPr/>
          <p:nvPr/>
        </p:nvGrpSpPr>
        <p:grpSpPr>
          <a:xfrm>
            <a:off x="762000" y="3343275"/>
            <a:ext cx="4134000" cy="838200"/>
            <a:chOff x="0" y="0"/>
            <a:chExt cx="4134000" cy="838200"/>
          </a:xfrm>
        </p:grpSpPr>
        <p:sp>
          <p:nvSpPr>
            <p:cNvPr id="276" name="Google Shape;276;p25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5"/>
            <p:cNvSpPr txBox="1"/>
            <p:nvPr/>
          </p:nvSpPr>
          <p:spPr>
            <a:xfrm>
              <a:off x="190500" y="133350"/>
              <a:ext cx="37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12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před zahájením jednotlivých disciplín a kol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9" name="Google Shape;279;p25"/>
          <p:cNvGrpSpPr/>
          <p:nvPr/>
        </p:nvGrpSpPr>
        <p:grpSpPr>
          <a:xfrm>
            <a:off x="762000" y="4324350"/>
            <a:ext cx="4134000" cy="838200"/>
            <a:chOff x="0" y="0"/>
            <a:chExt cx="4134000" cy="838200"/>
          </a:xfrm>
        </p:grpSpPr>
        <p:sp>
          <p:nvSpPr>
            <p:cNvPr id="280" name="Google Shape;280;p25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5"/>
            <p:cNvSpPr txBox="1"/>
            <p:nvPr/>
          </p:nvSpPr>
          <p:spPr>
            <a:xfrm>
              <a:off x="190500" y="133350"/>
              <a:ext cx="37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12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po dokončení každého soutěžního pokusu</a:t>
              </a:r>
              <a:endParaRPr b="1" sz="1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3" name="Google Shape;283;p25"/>
          <p:cNvGrpSpPr/>
          <p:nvPr/>
        </p:nvGrpSpPr>
        <p:grpSpPr>
          <a:xfrm>
            <a:off x="5181600" y="1381125"/>
            <a:ext cx="4134000" cy="838200"/>
            <a:chOff x="0" y="0"/>
            <a:chExt cx="4134000" cy="838200"/>
          </a:xfrm>
        </p:grpSpPr>
        <p:sp>
          <p:nvSpPr>
            <p:cNvPr id="284" name="Google Shape;284;p25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5"/>
            <p:cNvSpPr txBox="1"/>
            <p:nvPr/>
          </p:nvSpPr>
          <p:spPr>
            <a:xfrm>
              <a:off x="190500" y="133350"/>
              <a:ext cx="37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1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05</a:t>
              </a:r>
              <a:endParaRPr b="1" sz="111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-US" sz="111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po dokončení všech pokusů soutěžícího v daném kole</a:t>
              </a:r>
              <a:endParaRPr b="1" sz="111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7" name="Google Shape;287;p25"/>
          <p:cNvGrpSpPr/>
          <p:nvPr/>
        </p:nvGrpSpPr>
        <p:grpSpPr>
          <a:xfrm>
            <a:off x="5181600" y="2362200"/>
            <a:ext cx="4134000" cy="838200"/>
            <a:chOff x="0" y="0"/>
            <a:chExt cx="4134000" cy="838200"/>
          </a:xfrm>
        </p:grpSpPr>
        <p:sp>
          <p:nvSpPr>
            <p:cNvPr id="288" name="Google Shape;288;p25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25"/>
            <p:cNvSpPr txBox="1"/>
            <p:nvPr/>
          </p:nvSpPr>
          <p:spPr>
            <a:xfrm>
              <a:off x="190500" y="133350"/>
              <a:ext cx="37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1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06</a:t>
              </a:r>
              <a:endParaRPr b="1" sz="111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-US" sz="111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po skončení kola při výpočtu pořadí a určení postupujících</a:t>
              </a:r>
              <a:endParaRPr b="1" sz="111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1" name="Google Shape;291;p25"/>
          <p:cNvGrpSpPr/>
          <p:nvPr/>
        </p:nvGrpSpPr>
        <p:grpSpPr>
          <a:xfrm>
            <a:off x="5181600" y="3343275"/>
            <a:ext cx="4134000" cy="838200"/>
            <a:chOff x="0" y="0"/>
            <a:chExt cx="4134000" cy="838200"/>
          </a:xfrm>
        </p:grpSpPr>
        <p:sp>
          <p:nvSpPr>
            <p:cNvPr id="292" name="Google Shape;292;p25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5"/>
            <p:cNvSpPr txBox="1"/>
            <p:nvPr/>
          </p:nvSpPr>
          <p:spPr>
            <a:xfrm>
              <a:off x="190500" y="133350"/>
              <a:ext cx="3753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1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1" sz="111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-US" sz="111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po skončení soutěže při zveřejnění konečných výsledků</a:t>
              </a:r>
              <a:endParaRPr b="1" sz="111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6"/>
          <p:cNvSpPr/>
          <p:nvPr/>
        </p:nvSpPr>
        <p:spPr>
          <a:xfrm>
            <a:off x="0" y="0"/>
            <a:ext cx="10077600" cy="114300"/>
          </a:xfrm>
          <a:prstGeom prst="rect">
            <a:avLst/>
          </a:prstGeom>
          <a:solidFill>
            <a:srgbClr val="1A99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6"/>
          <p:cNvSpPr/>
          <p:nvPr/>
        </p:nvSpPr>
        <p:spPr>
          <a:xfrm>
            <a:off x="0" y="0"/>
            <a:ext cx="3048000" cy="114300"/>
          </a:xfrm>
          <a:prstGeom prst="rect">
            <a:avLst/>
          </a:prstGeom>
          <a:solidFill>
            <a:srgbClr val="EB56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6"/>
          <p:cNvSpPr txBox="1"/>
          <p:nvPr/>
        </p:nvSpPr>
        <p:spPr>
          <a:xfrm>
            <a:off x="762000" y="400050"/>
            <a:ext cx="47625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rPr>
              <a:t>PROČ?</a:t>
            </a:r>
            <a:endParaRPr b="1" sz="1400">
              <a:solidFill>
                <a:srgbClr val="EB56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6"/>
          <p:cNvSpPr txBox="1"/>
          <p:nvPr/>
        </p:nvSpPr>
        <p:spPr>
          <a:xfrm>
            <a:off x="762000" y="685800"/>
            <a:ext cx="85536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Cíle systému a pravidla jejich dosažení</a:t>
            </a:r>
            <a:endParaRPr b="1" sz="22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3" name="Google Shape;303;p26"/>
          <p:cNvGrpSpPr/>
          <p:nvPr/>
        </p:nvGrpSpPr>
        <p:grpSpPr>
          <a:xfrm>
            <a:off x="762000" y="1238250"/>
            <a:ext cx="8553600" cy="876300"/>
            <a:chOff x="0" y="0"/>
            <a:chExt cx="8553600" cy="876300"/>
          </a:xfrm>
        </p:grpSpPr>
        <p:sp>
          <p:nvSpPr>
            <p:cNvPr id="304" name="Google Shape;304;p26"/>
            <p:cNvSpPr/>
            <p:nvPr/>
          </p:nvSpPr>
          <p:spPr>
            <a:xfrm>
              <a:off x="0" y="0"/>
              <a:ext cx="8553600" cy="876300"/>
            </a:xfrm>
            <a:prstGeom prst="roundRect">
              <a:avLst>
                <a:gd fmla="val 10869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6"/>
            <p:cNvSpPr/>
            <p:nvPr/>
          </p:nvSpPr>
          <p:spPr>
            <a:xfrm>
              <a:off x="0" y="0"/>
              <a:ext cx="8553600" cy="477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26"/>
            <p:cNvSpPr txBox="1"/>
            <p:nvPr/>
          </p:nvSpPr>
          <p:spPr>
            <a:xfrm>
              <a:off x="228600" y="152400"/>
              <a:ext cx="80964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18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Hlavní Cíl Systému</a:t>
              </a:r>
              <a:endParaRPr b="1" sz="1018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-US" sz="1249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Cílem je spolehlivě evidovat průběh speedcubingové soutěže a její výsledky a umožnit rychlé vytvoření výsledků a pořadí.</a:t>
              </a:r>
              <a:endParaRPr b="1" sz="1249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7" name="Google Shape;307;p26"/>
          <p:cNvGrpSpPr/>
          <p:nvPr/>
        </p:nvGrpSpPr>
        <p:grpSpPr>
          <a:xfrm>
            <a:off x="762000" y="2305050"/>
            <a:ext cx="4134000" cy="838200"/>
            <a:chOff x="0" y="0"/>
            <a:chExt cx="4134000" cy="838200"/>
          </a:xfrm>
        </p:grpSpPr>
        <p:sp>
          <p:nvSpPr>
            <p:cNvPr id="308" name="Google Shape;308;p26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26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6"/>
            <p:cNvSpPr txBox="1"/>
            <p:nvPr/>
          </p:nvSpPr>
          <p:spPr>
            <a:xfrm>
              <a:off x="190500" y="114300"/>
              <a:ext cx="3753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1" sz="115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Přiřazení pokusů: </a:t>
              </a:r>
              <a:r>
                <a:rPr b="0" lang="en-US" sz="11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Každý pokus je přiřazen správnému soutěžícímu, disciplíně a kolu.</a:t>
              </a:r>
              <a:endParaRPr sz="1150"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1" name="Google Shape;311;p26"/>
          <p:cNvGrpSpPr/>
          <p:nvPr/>
        </p:nvGrpSpPr>
        <p:grpSpPr>
          <a:xfrm>
            <a:off x="762000" y="3286125"/>
            <a:ext cx="4134000" cy="838200"/>
            <a:chOff x="0" y="0"/>
            <a:chExt cx="4134000" cy="838200"/>
          </a:xfrm>
        </p:grpSpPr>
        <p:sp>
          <p:nvSpPr>
            <p:cNvPr id="312" name="Google Shape;312;p26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6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26"/>
            <p:cNvSpPr txBox="1"/>
            <p:nvPr/>
          </p:nvSpPr>
          <p:spPr>
            <a:xfrm>
              <a:off x="190500" y="114300"/>
              <a:ext cx="3753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1" sz="115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Vyhodnocování: </a:t>
              </a:r>
              <a:r>
                <a:rPr b="0" lang="en-US" sz="11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Výsledky jsou vyhodnocovány podle stanovených Pravidel WCA.</a:t>
              </a:r>
              <a:endParaRPr sz="1150"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5" name="Google Shape;315;p26"/>
          <p:cNvGrpSpPr/>
          <p:nvPr/>
        </p:nvGrpSpPr>
        <p:grpSpPr>
          <a:xfrm>
            <a:off x="762000" y="4267200"/>
            <a:ext cx="4134000" cy="838200"/>
            <a:chOff x="0" y="0"/>
            <a:chExt cx="4134000" cy="838200"/>
          </a:xfrm>
        </p:grpSpPr>
        <p:sp>
          <p:nvSpPr>
            <p:cNvPr id="316" name="Google Shape;316;p26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6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1A998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6"/>
            <p:cNvSpPr txBox="1"/>
            <p:nvPr/>
          </p:nvSpPr>
          <p:spPr>
            <a:xfrm>
              <a:off x="190500" y="114300"/>
              <a:ext cx="3753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EB560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1" sz="1150">
                <a:solidFill>
                  <a:srgbClr val="EB56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Výpočet časů: </a:t>
              </a:r>
              <a:r>
                <a:rPr b="0" lang="en-US" sz="11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Z jednotlivých pokusů lze vypočítat výsledný čas nebo průměr.</a:t>
              </a:r>
              <a:endParaRPr sz="1150"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9" name="Google Shape;319;p26"/>
          <p:cNvGrpSpPr/>
          <p:nvPr/>
        </p:nvGrpSpPr>
        <p:grpSpPr>
          <a:xfrm>
            <a:off x="5181600" y="2305050"/>
            <a:ext cx="4134000" cy="838200"/>
            <a:chOff x="0" y="0"/>
            <a:chExt cx="4134000" cy="838200"/>
          </a:xfrm>
        </p:grpSpPr>
        <p:sp>
          <p:nvSpPr>
            <p:cNvPr id="320" name="Google Shape;320;p26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6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26"/>
            <p:cNvSpPr txBox="1"/>
            <p:nvPr/>
          </p:nvSpPr>
          <p:spPr>
            <a:xfrm>
              <a:off x="190500" y="114300"/>
              <a:ext cx="3753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b="1" sz="115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Určení pořadí: </a:t>
              </a:r>
              <a:r>
                <a:rPr b="0" lang="en-US" sz="11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Pořadí soutěžících je určeno na základě dosažených výsledků.</a:t>
              </a:r>
              <a:endParaRPr sz="1150"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3" name="Google Shape;323;p26"/>
          <p:cNvGrpSpPr/>
          <p:nvPr/>
        </p:nvGrpSpPr>
        <p:grpSpPr>
          <a:xfrm>
            <a:off x="5181600" y="3286125"/>
            <a:ext cx="4134000" cy="838200"/>
            <a:chOff x="0" y="0"/>
            <a:chExt cx="4134000" cy="838200"/>
          </a:xfrm>
        </p:grpSpPr>
        <p:sp>
          <p:nvSpPr>
            <p:cNvPr id="324" name="Google Shape;324;p26"/>
            <p:cNvSpPr/>
            <p:nvPr/>
          </p:nvSpPr>
          <p:spPr>
            <a:xfrm>
              <a:off x="0" y="0"/>
              <a:ext cx="4134000" cy="838200"/>
            </a:xfrm>
            <a:prstGeom prst="roundRect">
              <a:avLst>
                <a:gd fmla="val 1136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26"/>
            <p:cNvSpPr/>
            <p:nvPr/>
          </p:nvSpPr>
          <p:spPr>
            <a:xfrm>
              <a:off x="0" y="0"/>
              <a:ext cx="47700" cy="838200"/>
            </a:xfrm>
            <a:prstGeom prst="roundRect">
              <a:avLst>
                <a:gd fmla="val 40000" name="adj"/>
              </a:avLst>
            </a:prstGeom>
            <a:solidFill>
              <a:srgbClr val="EB56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26"/>
            <p:cNvSpPr txBox="1"/>
            <p:nvPr/>
          </p:nvSpPr>
          <p:spPr>
            <a:xfrm>
              <a:off x="190500" y="114300"/>
              <a:ext cx="37530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1A9988"/>
                  </a:solidFill>
                  <a:latin typeface="Arial"/>
                  <a:ea typeface="Arial"/>
                  <a:cs typeface="Arial"/>
                  <a:sym typeface="Arial"/>
                </a:rPr>
                <a:t>05</a:t>
              </a:r>
              <a:endParaRPr b="1" sz="1150">
                <a:solidFill>
                  <a:srgbClr val="1A9988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Postup do dalších kol: </a:t>
              </a:r>
              <a:r>
                <a:rPr b="0" lang="en-US" sz="115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Do dalšího kola postupují pouze soutěžící splňující stanovené podmínky.</a:t>
              </a:r>
              <a:endParaRPr sz="1150"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7"/>
          <p:cNvSpPr txBox="1"/>
          <p:nvPr/>
        </p:nvSpPr>
        <p:spPr>
          <a:xfrm>
            <a:off x="974413" y="918875"/>
            <a:ext cx="8131800" cy="383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🙏</a:t>
            </a:r>
            <a:endParaRPr sz="4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8"/>
          <p:cNvSpPr txBox="1"/>
          <p:nvPr>
            <p:ph type="ctrTitle"/>
          </p:nvPr>
        </p:nvSpPr>
        <p:spPr>
          <a:xfrm>
            <a:off x="804168" y="1457960"/>
            <a:ext cx="8475600" cy="18354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Use case model a diagramy aktiv </a:t>
            </a:r>
            <a:endParaRPr/>
          </a:p>
        </p:txBody>
      </p:sp>
      <p:sp>
        <p:nvSpPr>
          <p:cNvPr id="337" name="Google Shape;337;p28"/>
          <p:cNvSpPr txBox="1"/>
          <p:nvPr>
            <p:ph idx="1" type="subTitle"/>
          </p:nvPr>
        </p:nvSpPr>
        <p:spPr>
          <a:xfrm>
            <a:off x="804364" y="3498024"/>
            <a:ext cx="8475600" cy="596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[4/2]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29" title="Untitl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900" y="152400"/>
            <a:ext cx="8890819" cy="53657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Google Shape;347;p30" title="Screenshot From 2026-10-20 15-13-0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30850"/>
            <a:ext cx="10119148" cy="4668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Google Shape;352;p31" title="Screenshot From 2026-10-20 15-14-0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03675"/>
            <a:ext cx="10080626" cy="4663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Google Shape;357;p32" title="Screenshot From 2026-10-20 15-18-5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02479"/>
            <a:ext cx="10080626" cy="48655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3" title="Screenshot From 2026-10-20 15-19-3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11727"/>
            <a:ext cx="10080624" cy="46470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34" title="Screenshot From 2026-10-20 15-20-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775" y="0"/>
            <a:ext cx="9677078" cy="567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5"/>
          <p:cNvSpPr txBox="1"/>
          <p:nvPr/>
        </p:nvSpPr>
        <p:spPr>
          <a:xfrm>
            <a:off x="974413" y="918875"/>
            <a:ext cx="8131800" cy="383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🙏</a:t>
            </a:r>
            <a:endParaRPr sz="4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"/>
          <p:cNvSpPr txBox="1"/>
          <p:nvPr>
            <p:ph type="ctrTitle"/>
          </p:nvPr>
        </p:nvSpPr>
        <p:spPr>
          <a:xfrm>
            <a:off x="804168" y="1457960"/>
            <a:ext cx="8475600" cy="18354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ER diagram</a:t>
            </a:r>
            <a:endParaRPr/>
          </a:p>
        </p:txBody>
      </p:sp>
      <p:sp>
        <p:nvSpPr>
          <p:cNvPr id="378" name="Google Shape;378;p36"/>
          <p:cNvSpPr txBox="1"/>
          <p:nvPr>
            <p:ph idx="1" type="subTitle"/>
          </p:nvPr>
        </p:nvSpPr>
        <p:spPr>
          <a:xfrm>
            <a:off x="804364" y="3498024"/>
            <a:ext cx="8475600" cy="5967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[4/3]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3" name="Google Shape;38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8738" y="152400"/>
            <a:ext cx="7663156" cy="5365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Google Shape;38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4600" y="0"/>
            <a:ext cx="6451436" cy="567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9"/>
          <p:cNvSpPr txBox="1"/>
          <p:nvPr>
            <p:ph type="title"/>
          </p:nvPr>
        </p:nvSpPr>
        <p:spPr>
          <a:xfrm>
            <a:off x="804168" y="1453771"/>
            <a:ext cx="84759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Počty entit</a:t>
            </a:r>
            <a:endParaRPr/>
          </a:p>
        </p:txBody>
      </p:sp>
      <p:graphicFrame>
        <p:nvGraphicFramePr>
          <p:cNvPr id="394" name="Google Shape;394;p39"/>
          <p:cNvGraphicFramePr/>
          <p:nvPr/>
        </p:nvGraphicFramePr>
        <p:xfrm>
          <a:off x="952475" y="2343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{98AB76AB-4FA7-4837-8043-DD9115E32689}</a:tableStyleId>
              </a:tblPr>
              <a:tblGrid>
                <a:gridCol w="4087825"/>
                <a:gridCol w="40878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/>
                        <a:t>Entita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/>
                        <a:t>Počet</a:t>
                      </a:r>
                      <a:endParaRPr b="1" sz="15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Uživatel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1,000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Soutěž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100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Pokus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30,000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Kolo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300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Výsledek kola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6,000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Účast v disciplíně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2,500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0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Odhadované počty uživatelů</a:t>
            </a:r>
            <a:endParaRPr/>
          </a:p>
        </p:txBody>
      </p:sp>
      <p:graphicFrame>
        <p:nvGraphicFramePr>
          <p:cNvPr id="400" name="Google Shape;400;p40"/>
          <p:cNvGraphicFramePr/>
          <p:nvPr/>
        </p:nvGraphicFramePr>
        <p:xfrm>
          <a:off x="954463" y="2703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{98AB76AB-4FA7-4837-8043-DD9115E32689}</a:tableStyleId>
              </a:tblPr>
              <a:tblGrid>
                <a:gridCol w="2725200"/>
                <a:gridCol w="2725200"/>
                <a:gridCol w="27252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Kdy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Read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Write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Neaktivní soutěž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30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1-5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Otevřené registrace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400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300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Průběh soutěže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800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30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Výsledky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800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1-5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1"/>
          <p:cNvSpPr txBox="1"/>
          <p:nvPr>
            <p:ph type="title"/>
          </p:nvPr>
        </p:nvSpPr>
        <p:spPr>
          <a:xfrm>
            <a:off x="804168" y="1453771"/>
            <a:ext cx="8476200" cy="590100"/>
          </a:xfrm>
          <a:prstGeom prst="rect">
            <a:avLst/>
          </a:prstGeom>
        </p:spPr>
        <p:txBody>
          <a:bodyPr anchorCtr="0" anchor="t" bIns="100800" lIns="100800" spcFirstLastPara="1" rIns="100800" wrap="square" tIns="1008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Technologie</a:t>
            </a:r>
            <a:endParaRPr/>
          </a:p>
        </p:txBody>
      </p:sp>
      <p:graphicFrame>
        <p:nvGraphicFramePr>
          <p:cNvPr id="406" name="Google Shape;406;p41"/>
          <p:cNvGraphicFramePr/>
          <p:nvPr/>
        </p:nvGraphicFramePr>
        <p:xfrm>
          <a:off x="954438" y="2340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{98AB76AB-4FA7-4837-8043-DD9115E32689}</a:tableStyleId>
              </a:tblPr>
              <a:tblGrid>
                <a:gridCol w="4087825"/>
                <a:gridCol w="4087825"/>
              </a:tblGrid>
              <a:tr h="381000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Software</a:t>
                      </a:r>
                      <a:endParaRPr/>
                    </a:p>
                  </a:txBody>
                  <a:tcPr marT="91425" marB="91425" marR="91425" marL="91425"/>
                </a:tc>
                <a:tc hMerge="1"/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Backend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Phoenix Framework, ETS tables  (Elixir)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Frontend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Heex (Elixir)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Databázový engine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PostgreSQL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06375"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Hardware</a:t>
                      </a:r>
                      <a:endParaRPr/>
                    </a:p>
                  </a:txBody>
                  <a:tcPr marT="91425" marB="91425" marR="91425" marL="91425"/>
                </a:tc>
                <a:tc hMerge="1"/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Aplikační server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4 vCPU | 8 GB RAM | 80 GB SDD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Databázový server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8 vCPU | 32 GB RAM | 250 GB SSD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2"/>
          <p:cNvSpPr txBox="1"/>
          <p:nvPr/>
        </p:nvSpPr>
        <p:spPr>
          <a:xfrm>
            <a:off x="974413" y="918875"/>
            <a:ext cx="8131800" cy="383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🙏</a:t>
            </a:r>
            <a:endParaRPr sz="4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