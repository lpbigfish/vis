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670550" cx="10080625"/>
  <p:notesSz cx="7559675" cy="10691800"/>
  <p:embeddedFontLst>
    <p:embeddedFont>
      <p:font typeface="Ralew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D6F834-4304-4959-A6BC-A38527A4AE62}">
  <a:tblStyle styleId="{0DD6F834-4304-4959-A6BC-A38527A4AE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29e435ebc131335e_1_21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29e435ebc131335e_1_21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22f4265ef7ed6635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22f4265ef7ed6635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22f4265ef7ed6635_0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22f4265ef7ed6635_0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22f4265ef7ed6635_0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h22f4265ef7ed6635_0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22f4265ef7ed6635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h22f4265ef7ed6635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22f4265ef7ed6635_0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h22f4265ef7ed6635_0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22f4265ef7ed6635_0_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h22f4265ef7ed6635_0_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22f4265ef7ed6635_0_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22f4265ef7ed6635_0_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4dea1ba7fd3ad306_3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h4dea1ba7fd3ad306_3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2ef17c2c0eadf9ec_0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h2ef17c2c0eadf9ec_0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6c2c494a4ddf6b85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h6c2c494a4ddf6b85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6c2c494a4ddf6b85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6c2c494a4ddf6b85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6c2c494a4ddf6b85_0_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h6c2c494a4ddf6b85_0_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4dea1ba7fd3ad306_3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h4dea1ba7fd3ad306_3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4dea1ba7fd3ad306_3_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h4dea1ba7fd3ad306_3_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h22f4265ef7ed6635_0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h22f4265ef7ed6635_0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804168" y="1457960"/>
            <a:ext cx="8475600" cy="18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804364" y="3498024"/>
            <a:ext cx="8475600" cy="59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804168" y="1457960"/>
            <a:ext cx="8475900" cy="16743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804168" y="1453771"/>
            <a:ext cx="84759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04030" y="2291896"/>
            <a:ext cx="41610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5119250" y="2291896"/>
            <a:ext cx="41610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804168" y="1453771"/>
            <a:ext cx="84759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804774" y="1453771"/>
            <a:ext cx="3639000" cy="1523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95100" y="3066766"/>
            <a:ext cx="3639000" cy="17613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915619" y="4596233"/>
            <a:ext cx="822192" cy="50521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804168" y="952864"/>
            <a:ext cx="7740300" cy="32910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5040300" cy="567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804774" y="1453771"/>
            <a:ext cx="3639000" cy="18600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99207" y="3485484"/>
            <a:ext cx="3639000" cy="83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704224" y="1491227"/>
            <a:ext cx="3720000" cy="33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99207" y="4820603"/>
            <a:ext cx="8485800" cy="5076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915619" y="4596233"/>
            <a:ext cx="822192" cy="50521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804168" y="809157"/>
            <a:ext cx="8475900" cy="13722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804168" y="2505789"/>
            <a:ext cx="8475900" cy="1742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504000" y="226080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504000" y="1326600"/>
            <a:ext cx="90717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spcBef>
                <a:spcPts val="1300"/>
              </a:spcBef>
              <a:spcAft>
                <a:spcPts val="0"/>
              </a:spcAft>
              <a:buSzPts val="1350"/>
              <a:buChar char="○"/>
              <a:defRPr/>
            </a:lvl2pPr>
            <a:lvl3pPr lvl="2" algn="l">
              <a:spcBef>
                <a:spcPts val="1300"/>
              </a:spcBef>
              <a:spcAft>
                <a:spcPts val="0"/>
              </a:spcAft>
              <a:buSzPts val="810"/>
              <a:buChar char="■"/>
              <a:defRPr/>
            </a:lvl3pPr>
            <a:lvl4pPr lvl="3" algn="l">
              <a:spcBef>
                <a:spcPts val="1300"/>
              </a:spcBef>
              <a:spcAft>
                <a:spcPts val="0"/>
              </a:spcAft>
              <a:buSzPts val="1350"/>
              <a:buChar char="●"/>
              <a:defRPr/>
            </a:lvl4pPr>
            <a:lvl5pPr lvl="4" algn="l">
              <a:spcBef>
                <a:spcPts val="1300"/>
              </a:spcBef>
              <a:spcAft>
                <a:spcPts val="0"/>
              </a:spcAft>
              <a:buSzPts val="810"/>
              <a:buChar char="○"/>
              <a:defRPr/>
            </a:lvl5pPr>
            <a:lvl6pPr lvl="5" algn="l">
              <a:spcBef>
                <a:spcPts val="1300"/>
              </a:spcBef>
              <a:spcAft>
                <a:spcPts val="0"/>
              </a:spcAft>
              <a:buSzPts val="810"/>
              <a:buChar char="■"/>
              <a:defRPr/>
            </a:lvl6pPr>
            <a:lvl7pPr lvl="6" algn="l">
              <a:spcBef>
                <a:spcPts val="1300"/>
              </a:spcBef>
              <a:spcAft>
                <a:spcPts val="0"/>
              </a:spcAft>
              <a:buSzPts val="810"/>
              <a:buChar char="●"/>
              <a:defRPr/>
            </a:lvl7pPr>
            <a:lvl8pPr lvl="7" algn="l">
              <a:spcBef>
                <a:spcPts val="13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1300"/>
              </a:spcBef>
              <a:spcAft>
                <a:spcPts val="130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7227360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504000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31_0)">
  <p:cSld name="Title and body (h29e435ebc131335e_31_0)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38_0)">
  <p:cSld name="Title and body (h29e435ebc131335e_38_0)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45_0)">
  <p:cSld name="Title and body (h29e435ebc131335e_45_0)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53_0)">
  <p:cSld name="Title and body (h29e435ebc131335e_53_0)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60_0)">
  <p:cSld name="Title and body (h29e435ebc131335e_60_0)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67_0)">
  <p:cSld name="Title and body (h29e435ebc131335e_67_0)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type="title"/>
          </p:nvPr>
        </p:nvSpPr>
        <p:spPr>
          <a:xfrm>
            <a:off x="762000" y="1333500"/>
            <a:ext cx="4953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VIZE PROJEKTU</a:t>
            </a:r>
            <a:endParaRPr b="1" i="0" sz="16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762000" y="1905000"/>
            <a:ext cx="5143500" cy="179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Evidence pro Speedcubing soutěže</a:t>
            </a:r>
            <a:endParaRPr b="1" i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1300"/>
              </a:spcAft>
              <a:buNone/>
            </a:pPr>
            <a:r>
              <a:rPr b="0" i="0" lang="en-US" sz="1400">
                <a:solidFill>
                  <a:srgbClr val="334155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Autor: </a:t>
            </a:r>
            <a:r>
              <a:rPr b="1" i="0" lang="en-US" sz="1400">
                <a:solidFill>
                  <a:srgbClr val="0F172A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Filip Štegner</a:t>
            </a:r>
            <a:r>
              <a:rPr b="0" i="0" lang="en-US" sz="1400">
                <a:solidFill>
                  <a:srgbClr val="334155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 | STE0610</a:t>
            </a:r>
            <a:endParaRPr b="1" i="0" sz="3800">
              <a:solidFill>
                <a:srgbClr val="0F172A"/>
              </a:solidFill>
              <a:highlight>
                <a:srgbClr val="E9EDE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20"/>
          <p:cNvGrpSpPr/>
          <p:nvPr/>
        </p:nvGrpSpPr>
        <p:grpSpPr>
          <a:xfrm>
            <a:off x="6286500" y="1047750"/>
            <a:ext cx="3143400" cy="3686100"/>
            <a:chOff x="0" y="0"/>
            <a:chExt cx="3143400" cy="3686100"/>
          </a:xfrm>
        </p:grpSpPr>
        <p:sp>
          <p:nvSpPr>
            <p:cNvPr id="121" name="Google Shape;121;p20"/>
            <p:cNvSpPr/>
            <p:nvPr/>
          </p:nvSpPr>
          <p:spPr>
            <a:xfrm>
              <a:off x="114300" y="114300"/>
              <a:ext cx="3029100" cy="3571800"/>
            </a:xfrm>
            <a:prstGeom prst="roundRect">
              <a:avLst>
                <a:gd fmla="val 5031" name="adj"/>
              </a:avLst>
            </a:prstGeom>
            <a:solidFill>
              <a:srgbClr val="1A9988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leek, modern, colorful Speedcube (3x3 Rubik's cube) resting on a clean minimalist surface with subtle soft studio lighting and dynamic angle, vibrant cyan, orange and red colors" id="122" name="Google Shape;122;p20"/>
            <p:cNvPicPr preferRelativeResize="0"/>
            <p:nvPr/>
          </p:nvPicPr>
          <p:blipFill rotWithShape="1">
            <a:blip r:embed="rId4">
              <a:alphaModFix/>
            </a:blip>
            <a:srcRect b="5784" l="0" r="0" t="5775"/>
            <a:stretch/>
          </p:blipFill>
          <p:spPr>
            <a:xfrm>
              <a:off x="0" y="0"/>
              <a:ext cx="3029100" cy="3571800"/>
            </a:xfrm>
            <a:prstGeom prst="roundRect">
              <a:avLst>
                <a:gd fmla="val 5031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762000" y="428625"/>
            <a:ext cx="4762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CO?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762000" y="762000"/>
            <a:ext cx="8553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0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Jaká data systém eviduje?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1"/>
          <p:cNvGrpSpPr/>
          <p:nvPr/>
        </p:nvGrpSpPr>
        <p:grpSpPr>
          <a:xfrm>
            <a:off x="762000" y="1524000"/>
            <a:ext cx="1952700" cy="1571700"/>
            <a:chOff x="0" y="0"/>
            <a:chExt cx="1952700" cy="1571700"/>
          </a:xfrm>
        </p:grpSpPr>
        <p:sp>
          <p:nvSpPr>
            <p:cNvPr id="132" name="Google Shape;132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Soutěže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Evidence pořádaných soutěží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1"/>
          <p:cNvGrpSpPr/>
          <p:nvPr/>
        </p:nvGrpSpPr>
        <p:grpSpPr>
          <a:xfrm>
            <a:off x="2962275" y="1524000"/>
            <a:ext cx="1952700" cy="1571700"/>
            <a:chOff x="0" y="0"/>
            <a:chExt cx="1952700" cy="1571700"/>
          </a:xfrm>
        </p:grpSpPr>
        <p:sp>
          <p:nvSpPr>
            <p:cNvPr id="136" name="Google Shape;136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Soutěžící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Registrace a profily účastníků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1"/>
          <p:cNvGrpSpPr/>
          <p:nvPr/>
        </p:nvGrpSpPr>
        <p:grpSpPr>
          <a:xfrm>
            <a:off x="5162550" y="1524000"/>
            <a:ext cx="1952700" cy="1571700"/>
            <a:chOff x="0" y="0"/>
            <a:chExt cx="1952700" cy="1571700"/>
          </a:xfrm>
        </p:grpSpPr>
        <p:sp>
          <p:nvSpPr>
            <p:cNvPr id="140" name="Google Shape;140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Disciplíny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Např. 3×3×3, 2×2×2, 4×4×4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21"/>
          <p:cNvGrpSpPr/>
          <p:nvPr/>
        </p:nvGrpSpPr>
        <p:grpSpPr>
          <a:xfrm>
            <a:off x="7362825" y="1524000"/>
            <a:ext cx="1952700" cy="1571700"/>
            <a:chOff x="0" y="0"/>
            <a:chExt cx="1952700" cy="1571700"/>
          </a:xfrm>
        </p:grpSpPr>
        <p:sp>
          <p:nvSpPr>
            <p:cNvPr id="144" name="Google Shape;144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Kola soutěže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Struktura a průběh kol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21"/>
          <p:cNvGrpSpPr/>
          <p:nvPr/>
        </p:nvGrpSpPr>
        <p:grpSpPr>
          <a:xfrm>
            <a:off x="762000" y="3333750"/>
            <a:ext cx="1952700" cy="1571700"/>
            <a:chOff x="0" y="0"/>
            <a:chExt cx="1952700" cy="1571700"/>
          </a:xfrm>
        </p:grpSpPr>
        <p:sp>
          <p:nvSpPr>
            <p:cNvPr id="148" name="Google Shape;148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665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88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Jednotlivé pokusy</a:t>
              </a:r>
              <a:endParaRPr b="1" sz="1388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Záznam samostatných řešení</a:t>
              </a:r>
              <a:endParaRPr sz="101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1"/>
          <p:cNvGrpSpPr/>
          <p:nvPr/>
        </p:nvGrpSpPr>
        <p:grpSpPr>
          <a:xfrm>
            <a:off x="2962275" y="3333750"/>
            <a:ext cx="1952700" cy="1571700"/>
            <a:chOff x="0" y="0"/>
            <a:chExt cx="1952700" cy="1571700"/>
          </a:xfrm>
        </p:grpSpPr>
        <p:sp>
          <p:nvSpPr>
            <p:cNvPr id="152" name="Google Shape;152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Naměřené časy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Přesné časy z timerů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21"/>
          <p:cNvGrpSpPr/>
          <p:nvPr/>
        </p:nvGrpSpPr>
        <p:grpSpPr>
          <a:xfrm>
            <a:off x="5162550" y="3333750"/>
            <a:ext cx="1952700" cy="1571700"/>
            <a:chOff x="0" y="0"/>
            <a:chExt cx="1952700" cy="1571700"/>
          </a:xfrm>
        </p:grpSpPr>
        <p:sp>
          <p:nvSpPr>
            <p:cNvPr id="156" name="Google Shape;156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Výsledky a pořadí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Výpočty průměrů a žebříčky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21"/>
          <p:cNvGrpSpPr/>
          <p:nvPr/>
        </p:nvGrpSpPr>
        <p:grpSpPr>
          <a:xfrm>
            <a:off x="7362825" y="3333750"/>
            <a:ext cx="1952700" cy="1571700"/>
            <a:chOff x="0" y="0"/>
            <a:chExt cx="1952700" cy="1571700"/>
          </a:xfrm>
        </p:grpSpPr>
        <p:sp>
          <p:nvSpPr>
            <p:cNvPr id="160" name="Google Shape;160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Penalizace &amp; Čas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Případně DNF a extra čas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22"/>
          <p:cNvGrpSpPr/>
          <p:nvPr/>
        </p:nvGrpSpPr>
        <p:grpSpPr>
          <a:xfrm>
            <a:off x="762000" y="428625"/>
            <a:ext cx="4762500" cy="215400"/>
            <a:chOff x="0" y="0"/>
            <a:chExt cx="4762500" cy="215400"/>
          </a:xfrm>
        </p:grpSpPr>
        <p:sp>
          <p:nvSpPr>
            <p:cNvPr id="170" name="Google Shape;170;p22"/>
            <p:cNvSpPr/>
            <p:nvPr/>
          </p:nvSpPr>
          <p:spPr>
            <a:xfrm>
              <a:off x="0" y="0"/>
              <a:ext cx="4762500" cy="21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2"/>
            <p:cNvSpPr txBox="1"/>
            <p:nvPr/>
          </p:nvSpPr>
          <p:spPr>
            <a:xfrm>
              <a:off x="0" y="0"/>
              <a:ext cx="4762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JAK?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22"/>
          <p:cNvGrpSpPr/>
          <p:nvPr/>
        </p:nvGrpSpPr>
        <p:grpSpPr>
          <a:xfrm>
            <a:off x="762000" y="762000"/>
            <a:ext cx="8553600" cy="476400"/>
            <a:chOff x="0" y="0"/>
            <a:chExt cx="8553600" cy="476400"/>
          </a:xfrm>
        </p:grpSpPr>
        <p:sp>
          <p:nvSpPr>
            <p:cNvPr id="173" name="Google Shape;173;p22"/>
            <p:cNvSpPr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2"/>
            <p:cNvSpPr txBox="1"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Jaké procesy se s informacemi provádějí?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22"/>
          <p:cNvGrpSpPr/>
          <p:nvPr/>
        </p:nvGrpSpPr>
        <p:grpSpPr>
          <a:xfrm>
            <a:off x="762000" y="1524000"/>
            <a:ext cx="1952700" cy="1571700"/>
            <a:chOff x="0" y="0"/>
            <a:chExt cx="1952700" cy="1571700"/>
          </a:xfrm>
        </p:grpSpPr>
        <p:sp>
          <p:nvSpPr>
            <p:cNvPr id="176" name="Google Shape;176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registrace soutěžících na soutěž a jednotlivé disciplíny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22"/>
          <p:cNvGrpSpPr/>
          <p:nvPr/>
        </p:nvGrpSpPr>
        <p:grpSpPr>
          <a:xfrm>
            <a:off x="2962275" y="1524000"/>
            <a:ext cx="1952700" cy="1571700"/>
            <a:chOff x="0" y="0"/>
            <a:chExt cx="1952700" cy="1571700"/>
          </a:xfrm>
        </p:grpSpPr>
        <p:sp>
          <p:nvSpPr>
            <p:cNvPr id="180" name="Google Shape;180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vytvoření soutěže a jejích disciplín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22"/>
          <p:cNvGrpSpPr/>
          <p:nvPr/>
        </p:nvGrpSpPr>
        <p:grpSpPr>
          <a:xfrm>
            <a:off x="5162550" y="1524000"/>
            <a:ext cx="1952700" cy="1571700"/>
            <a:chOff x="0" y="0"/>
            <a:chExt cx="1952700" cy="1571700"/>
          </a:xfrm>
        </p:grpSpPr>
        <p:sp>
          <p:nvSpPr>
            <p:cNvPr id="184" name="Google Shape;184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vytvoření jednotlivých kol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22"/>
          <p:cNvGrpSpPr/>
          <p:nvPr/>
        </p:nvGrpSpPr>
        <p:grpSpPr>
          <a:xfrm>
            <a:off x="7362825" y="1524000"/>
            <a:ext cx="1952700" cy="1571700"/>
            <a:chOff x="0" y="0"/>
            <a:chExt cx="1952700" cy="1571700"/>
          </a:xfrm>
        </p:grpSpPr>
        <p:sp>
          <p:nvSpPr>
            <p:cNvPr id="188" name="Google Shape;188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zadávání výsledků jednotlivých pokusů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22"/>
          <p:cNvGrpSpPr/>
          <p:nvPr/>
        </p:nvGrpSpPr>
        <p:grpSpPr>
          <a:xfrm>
            <a:off x="762000" y="3333750"/>
            <a:ext cx="1952700" cy="1571700"/>
            <a:chOff x="0" y="0"/>
            <a:chExt cx="1952700" cy="1571700"/>
          </a:xfrm>
        </p:grpSpPr>
        <p:sp>
          <p:nvSpPr>
            <p:cNvPr id="192" name="Google Shape;192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evidence penalizací, DNF a extra času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2962275" y="3333750"/>
            <a:ext cx="1952700" cy="1571700"/>
            <a:chOff x="0" y="0"/>
            <a:chExt cx="1952700" cy="1571700"/>
          </a:xfrm>
        </p:grpSpPr>
        <p:sp>
          <p:nvSpPr>
            <p:cNvPr id="196" name="Google Shape;196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výpočet výsledku soutěžícího v daném kole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22"/>
          <p:cNvGrpSpPr/>
          <p:nvPr/>
        </p:nvGrpSpPr>
        <p:grpSpPr>
          <a:xfrm>
            <a:off x="5162550" y="3333750"/>
            <a:ext cx="1952700" cy="1571700"/>
            <a:chOff x="0" y="0"/>
            <a:chExt cx="1952700" cy="1571700"/>
          </a:xfrm>
        </p:grpSpPr>
        <p:sp>
          <p:nvSpPr>
            <p:cNvPr id="200" name="Google Shape;200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sestavení pořadí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22"/>
          <p:cNvGrpSpPr/>
          <p:nvPr/>
        </p:nvGrpSpPr>
        <p:grpSpPr>
          <a:xfrm>
            <a:off x="7362825" y="3333750"/>
            <a:ext cx="1952700" cy="1571700"/>
            <a:chOff x="0" y="0"/>
            <a:chExt cx="1952700" cy="1571700"/>
          </a:xfrm>
        </p:grpSpPr>
        <p:sp>
          <p:nvSpPr>
            <p:cNvPr id="204" name="Google Shape;204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určení postupujících do dalšího kola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762000" y="428625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KDE?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762000" y="762000"/>
            <a:ext cx="855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 jakých místech se s informacemi pracuje?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23"/>
          <p:cNvGrpSpPr/>
          <p:nvPr/>
        </p:nvGrpSpPr>
        <p:grpSpPr>
          <a:xfrm>
            <a:off x="762000" y="1619250"/>
            <a:ext cx="2648100" cy="2667000"/>
            <a:chOff x="0" y="0"/>
            <a:chExt cx="2648100" cy="2667000"/>
          </a:xfrm>
        </p:grpSpPr>
        <p:sp>
          <p:nvSpPr>
            <p:cNvPr id="216" name="Google Shape;216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Místo konání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na místě konání soutěže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23"/>
          <p:cNvGrpSpPr/>
          <p:nvPr/>
        </p:nvGrpSpPr>
        <p:grpSpPr>
          <a:xfrm>
            <a:off x="3714750" y="1619250"/>
            <a:ext cx="2648100" cy="2667000"/>
            <a:chOff x="0" y="0"/>
            <a:chExt cx="2648100" cy="2667000"/>
          </a:xfrm>
        </p:grpSpPr>
        <p:sp>
          <p:nvSpPr>
            <p:cNvPr id="220" name="Google Shape;220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Stanoviště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 jednotlivých stanovišť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3"/>
          <p:cNvGrpSpPr/>
          <p:nvPr/>
        </p:nvGrpSpPr>
        <p:grpSpPr>
          <a:xfrm>
            <a:off x="6667500" y="1619250"/>
            <a:ext cx="2648100" cy="2667000"/>
            <a:chOff x="0" y="0"/>
            <a:chExt cx="2648100" cy="2667000"/>
          </a:xfrm>
        </p:grpSpPr>
        <p:sp>
          <p:nvSpPr>
            <p:cNvPr id="224" name="Google Shape;224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Registrace a organizace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 registračního nebo organizačního stanoviště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4"/>
          <p:cNvGrpSpPr/>
          <p:nvPr/>
        </p:nvGrpSpPr>
        <p:grpSpPr>
          <a:xfrm>
            <a:off x="762000" y="428625"/>
            <a:ext cx="4762500" cy="238200"/>
            <a:chOff x="0" y="0"/>
            <a:chExt cx="4762500" cy="238200"/>
          </a:xfrm>
        </p:grpSpPr>
        <p:sp>
          <p:nvSpPr>
            <p:cNvPr id="234" name="Google Shape;234;p24"/>
            <p:cNvSpPr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4"/>
            <p:cNvSpPr txBox="1"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KDO?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24"/>
          <p:cNvGrpSpPr/>
          <p:nvPr/>
        </p:nvGrpSpPr>
        <p:grpSpPr>
          <a:xfrm>
            <a:off x="762000" y="762000"/>
            <a:ext cx="8553600" cy="476400"/>
            <a:chOff x="0" y="0"/>
            <a:chExt cx="8553600" cy="476400"/>
          </a:xfrm>
        </p:grpSpPr>
        <p:sp>
          <p:nvSpPr>
            <p:cNvPr id="237" name="Google Shape;237;p24"/>
            <p:cNvSpPr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Kdo se systémem pracuje a v jaké roli?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24"/>
          <p:cNvGrpSpPr/>
          <p:nvPr/>
        </p:nvGrpSpPr>
        <p:grpSpPr>
          <a:xfrm>
            <a:off x="762000" y="1619250"/>
            <a:ext cx="1952700" cy="2667000"/>
            <a:chOff x="0" y="0"/>
            <a:chExt cx="1952700" cy="2667000"/>
          </a:xfrm>
        </p:grpSpPr>
        <p:sp>
          <p:nvSpPr>
            <p:cNvPr id="240" name="Google Shape;240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Soutěžící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registruje se do soutěže a sleduje své výsledky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2962275" y="1619250"/>
            <a:ext cx="1952700" cy="2667000"/>
            <a:chOff x="0" y="0"/>
            <a:chExt cx="1952700" cy="2667000"/>
          </a:xfrm>
        </p:grpSpPr>
        <p:sp>
          <p:nvSpPr>
            <p:cNvPr id="244" name="Google Shape;244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Rozhodčí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dohlíží na jednotlivé pokusy a potvrzuje jejich výsledek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24"/>
          <p:cNvGrpSpPr/>
          <p:nvPr/>
        </p:nvGrpSpPr>
        <p:grpSpPr>
          <a:xfrm>
            <a:off x="5162550" y="1619250"/>
            <a:ext cx="1952700" cy="2667000"/>
            <a:chOff x="0" y="0"/>
            <a:chExt cx="1952700" cy="2667000"/>
          </a:xfrm>
        </p:grpSpPr>
        <p:sp>
          <p:nvSpPr>
            <p:cNvPr id="248" name="Google Shape;248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Zapisovatel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zadává naměřené výsledky do systému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24"/>
          <p:cNvGrpSpPr/>
          <p:nvPr/>
        </p:nvGrpSpPr>
        <p:grpSpPr>
          <a:xfrm>
            <a:off x="7362825" y="1619250"/>
            <a:ext cx="1952700" cy="2667000"/>
            <a:chOff x="0" y="0"/>
            <a:chExt cx="1952700" cy="2667000"/>
          </a:xfrm>
        </p:grpSpPr>
        <p:sp>
          <p:nvSpPr>
            <p:cNvPr id="252" name="Google Shape;252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Organizátor / Administrátor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spravuje soutěž, disciplíny, kola, účastníky a výsledky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25"/>
          <p:cNvGrpSpPr/>
          <p:nvPr/>
        </p:nvGrpSpPr>
        <p:grpSpPr>
          <a:xfrm>
            <a:off x="762000" y="400050"/>
            <a:ext cx="4762500" cy="238200"/>
            <a:chOff x="0" y="0"/>
            <a:chExt cx="4762500" cy="238200"/>
          </a:xfrm>
        </p:grpSpPr>
        <p:sp>
          <p:nvSpPr>
            <p:cNvPr id="262" name="Google Shape;262;p25"/>
            <p:cNvSpPr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5"/>
            <p:cNvSpPr txBox="1"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KDY?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25"/>
          <p:cNvGrpSpPr/>
          <p:nvPr/>
        </p:nvGrpSpPr>
        <p:grpSpPr>
          <a:xfrm>
            <a:off x="762000" y="714375"/>
            <a:ext cx="8553600" cy="428700"/>
            <a:chOff x="0" y="0"/>
            <a:chExt cx="8553600" cy="428700"/>
          </a:xfrm>
        </p:grpSpPr>
        <p:sp>
          <p:nvSpPr>
            <p:cNvPr id="265" name="Google Shape;265;p25"/>
            <p:cNvSpPr/>
            <p:nvPr/>
          </p:nvSpPr>
          <p:spPr>
            <a:xfrm>
              <a:off x="0" y="0"/>
              <a:ext cx="85536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5"/>
            <p:cNvSpPr txBox="1"/>
            <p:nvPr/>
          </p:nvSpPr>
          <p:spPr>
            <a:xfrm>
              <a:off x="0" y="0"/>
              <a:ext cx="8553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2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Kdy a na základě jakých událostí se s informacemi pracuje?</a:t>
              </a:r>
              <a:endParaRPr b="1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25"/>
          <p:cNvGrpSpPr/>
          <p:nvPr/>
        </p:nvGrpSpPr>
        <p:grpSpPr>
          <a:xfrm>
            <a:off x="762000" y="1381125"/>
            <a:ext cx="4134000" cy="838200"/>
            <a:chOff x="0" y="0"/>
            <a:chExt cx="4134000" cy="838200"/>
          </a:xfrm>
        </p:grpSpPr>
        <p:sp>
          <p:nvSpPr>
            <p:cNvPr id="268" name="Google Shape;268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 vytvoření nové soutěže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25"/>
          <p:cNvGrpSpPr/>
          <p:nvPr/>
        </p:nvGrpSpPr>
        <p:grpSpPr>
          <a:xfrm>
            <a:off x="762000" y="2362200"/>
            <a:ext cx="4134000" cy="838200"/>
            <a:chOff x="0" y="0"/>
            <a:chExt cx="4134000" cy="838200"/>
          </a:xfrm>
        </p:grpSpPr>
        <p:sp>
          <p:nvSpPr>
            <p:cNvPr id="272" name="Google Shape;272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 registraci soutěžícího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25"/>
          <p:cNvGrpSpPr/>
          <p:nvPr/>
        </p:nvGrpSpPr>
        <p:grpSpPr>
          <a:xfrm>
            <a:off x="762000" y="3343275"/>
            <a:ext cx="4134000" cy="838200"/>
            <a:chOff x="0" y="0"/>
            <a:chExt cx="4134000" cy="838200"/>
          </a:xfrm>
        </p:grpSpPr>
        <p:sp>
          <p:nvSpPr>
            <p:cNvPr id="276" name="Google Shape;276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před zahájením jednotlivých disciplín a kol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25"/>
          <p:cNvGrpSpPr/>
          <p:nvPr/>
        </p:nvGrpSpPr>
        <p:grpSpPr>
          <a:xfrm>
            <a:off x="762000" y="4324350"/>
            <a:ext cx="4134000" cy="838200"/>
            <a:chOff x="0" y="0"/>
            <a:chExt cx="4134000" cy="838200"/>
          </a:xfrm>
        </p:grpSpPr>
        <p:sp>
          <p:nvSpPr>
            <p:cNvPr id="280" name="Google Shape;280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dokončení každého soutěžního pokusu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25"/>
          <p:cNvGrpSpPr/>
          <p:nvPr/>
        </p:nvGrpSpPr>
        <p:grpSpPr>
          <a:xfrm>
            <a:off x="5181600" y="1381125"/>
            <a:ext cx="4134000" cy="838200"/>
            <a:chOff x="0" y="0"/>
            <a:chExt cx="4134000" cy="838200"/>
          </a:xfrm>
        </p:grpSpPr>
        <p:sp>
          <p:nvSpPr>
            <p:cNvPr id="284" name="Google Shape;284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dokončení všech pokusů soutěžícího v daném kole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25"/>
          <p:cNvGrpSpPr/>
          <p:nvPr/>
        </p:nvGrpSpPr>
        <p:grpSpPr>
          <a:xfrm>
            <a:off x="5181600" y="2362200"/>
            <a:ext cx="4134000" cy="838200"/>
            <a:chOff x="0" y="0"/>
            <a:chExt cx="4134000" cy="838200"/>
          </a:xfrm>
        </p:grpSpPr>
        <p:sp>
          <p:nvSpPr>
            <p:cNvPr id="288" name="Google Shape;288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skončení kola při výpočtu pořadí a určení postupujících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25"/>
          <p:cNvGrpSpPr/>
          <p:nvPr/>
        </p:nvGrpSpPr>
        <p:grpSpPr>
          <a:xfrm>
            <a:off x="5181600" y="3343275"/>
            <a:ext cx="4134000" cy="838200"/>
            <a:chOff x="0" y="0"/>
            <a:chExt cx="4134000" cy="838200"/>
          </a:xfrm>
        </p:grpSpPr>
        <p:sp>
          <p:nvSpPr>
            <p:cNvPr id="292" name="Google Shape;292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skončení soutěže při zveřejnění konečných výsledků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762000" y="40005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PROČ?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762000" y="685800"/>
            <a:ext cx="8553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Cíle systému a pravidla jejich dosažení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26"/>
          <p:cNvGrpSpPr/>
          <p:nvPr/>
        </p:nvGrpSpPr>
        <p:grpSpPr>
          <a:xfrm>
            <a:off x="762000" y="1238250"/>
            <a:ext cx="8553600" cy="876300"/>
            <a:chOff x="0" y="0"/>
            <a:chExt cx="8553600" cy="876300"/>
          </a:xfrm>
        </p:grpSpPr>
        <p:sp>
          <p:nvSpPr>
            <p:cNvPr id="304" name="Google Shape;304;p26"/>
            <p:cNvSpPr/>
            <p:nvPr/>
          </p:nvSpPr>
          <p:spPr>
            <a:xfrm>
              <a:off x="0" y="0"/>
              <a:ext cx="8553600" cy="876300"/>
            </a:xfrm>
            <a:prstGeom prst="roundRect">
              <a:avLst>
                <a:gd fmla="val 108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0" y="0"/>
              <a:ext cx="85536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6"/>
            <p:cNvSpPr txBox="1"/>
            <p:nvPr/>
          </p:nvSpPr>
          <p:spPr>
            <a:xfrm>
              <a:off x="228600" y="152400"/>
              <a:ext cx="8096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Hlavní Cíl Systému</a:t>
              </a:r>
              <a:endParaRPr b="1" sz="1018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249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Cílem je spolehlivě evidovat průběh speedcubingové soutěže a její výsledky a umožnit rychlé vytvoření výsledků a pořadí.</a:t>
              </a:r>
              <a:endParaRPr b="1" sz="124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" name="Google Shape;307;p26"/>
          <p:cNvGrpSpPr/>
          <p:nvPr/>
        </p:nvGrpSpPr>
        <p:grpSpPr>
          <a:xfrm>
            <a:off x="762000" y="2305050"/>
            <a:ext cx="4134000" cy="838200"/>
            <a:chOff x="0" y="0"/>
            <a:chExt cx="4134000" cy="838200"/>
          </a:xfrm>
        </p:grpSpPr>
        <p:sp>
          <p:nvSpPr>
            <p:cNvPr id="308" name="Google Shape;308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Přiřazení pokusů: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Každý pokus je přiřazen správnému soutěžícímu, disciplíně a kolu.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762000" y="3286125"/>
            <a:ext cx="4134000" cy="838200"/>
            <a:chOff x="0" y="0"/>
            <a:chExt cx="4134000" cy="838200"/>
          </a:xfrm>
        </p:grpSpPr>
        <p:sp>
          <p:nvSpPr>
            <p:cNvPr id="312" name="Google Shape;312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Vyhodnocování: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Výsledky jsou vyhodnocovány podle stanovených Pravidel WCA.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6"/>
          <p:cNvGrpSpPr/>
          <p:nvPr/>
        </p:nvGrpSpPr>
        <p:grpSpPr>
          <a:xfrm>
            <a:off x="762000" y="4267200"/>
            <a:ext cx="4134000" cy="838200"/>
            <a:chOff x="0" y="0"/>
            <a:chExt cx="4134000" cy="838200"/>
          </a:xfrm>
        </p:grpSpPr>
        <p:sp>
          <p:nvSpPr>
            <p:cNvPr id="316" name="Google Shape;316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Výpočet časů: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 jednotlivých pokusů lze vypočítat výsledný čas nebo průměr.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6"/>
          <p:cNvGrpSpPr/>
          <p:nvPr/>
        </p:nvGrpSpPr>
        <p:grpSpPr>
          <a:xfrm>
            <a:off x="5181600" y="2305050"/>
            <a:ext cx="4134000" cy="838200"/>
            <a:chOff x="0" y="0"/>
            <a:chExt cx="4134000" cy="838200"/>
          </a:xfrm>
        </p:grpSpPr>
        <p:sp>
          <p:nvSpPr>
            <p:cNvPr id="320" name="Google Shape;320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15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Určení pořadí: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Pořadí soutěžících je určeno na základě dosažených výsledků.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26"/>
          <p:cNvGrpSpPr/>
          <p:nvPr/>
        </p:nvGrpSpPr>
        <p:grpSpPr>
          <a:xfrm>
            <a:off x="5181600" y="3286125"/>
            <a:ext cx="4134000" cy="838200"/>
            <a:chOff x="0" y="0"/>
            <a:chExt cx="4134000" cy="838200"/>
          </a:xfrm>
        </p:grpSpPr>
        <p:sp>
          <p:nvSpPr>
            <p:cNvPr id="324" name="Google Shape;324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15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Postup do dalších kol: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 dalšího kola postupují pouze soutěžící splňující stanovené podmínky.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/>
        </p:nvSpPr>
        <p:spPr>
          <a:xfrm>
            <a:off x="974413" y="918875"/>
            <a:ext cx="8131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🙏</a:t>
            </a:r>
            <a:endParaRPr sz="4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ctrTitle"/>
          </p:nvPr>
        </p:nvSpPr>
        <p:spPr>
          <a:xfrm>
            <a:off x="804168" y="1457960"/>
            <a:ext cx="8475600" cy="18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model a diagramy aktiv </a:t>
            </a:r>
            <a:endParaRPr/>
          </a:p>
        </p:txBody>
      </p:sp>
      <p:sp>
        <p:nvSpPr>
          <p:cNvPr id="337" name="Google Shape;337;p28"/>
          <p:cNvSpPr txBox="1"/>
          <p:nvPr>
            <p:ph idx="1" type="subTitle"/>
          </p:nvPr>
        </p:nvSpPr>
        <p:spPr>
          <a:xfrm>
            <a:off x="804364" y="3498024"/>
            <a:ext cx="8475600" cy="59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[4/2]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9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900" y="152400"/>
            <a:ext cx="8890819" cy="536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0" title="Screenshot From 2026-10-20 15-13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0850"/>
            <a:ext cx="10119148" cy="4668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1" title="Screenshot From 2026-10-20 15-14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3675"/>
            <a:ext cx="10080626" cy="4663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2" title="Screenshot From 2026-10-20 15-18-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2479"/>
            <a:ext cx="10080626" cy="4865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3" title="Screenshot From 2026-10-20 15-19-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1727"/>
            <a:ext cx="10080624" cy="4647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4" title="Screenshot From 2026-10-20 15-20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75" y="0"/>
            <a:ext cx="9677078" cy="56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 txBox="1"/>
          <p:nvPr/>
        </p:nvSpPr>
        <p:spPr>
          <a:xfrm>
            <a:off x="974413" y="918875"/>
            <a:ext cx="8131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🙏</a:t>
            </a:r>
            <a:endParaRPr sz="4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 txBox="1"/>
          <p:nvPr>
            <p:ph type="ctrTitle"/>
          </p:nvPr>
        </p:nvSpPr>
        <p:spPr>
          <a:xfrm>
            <a:off x="804168" y="1457960"/>
            <a:ext cx="8475600" cy="18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 diagram</a:t>
            </a:r>
            <a:endParaRPr/>
          </a:p>
        </p:txBody>
      </p:sp>
      <p:sp>
        <p:nvSpPr>
          <p:cNvPr id="378" name="Google Shape;378;p36"/>
          <p:cNvSpPr txBox="1"/>
          <p:nvPr>
            <p:ph idx="1" type="subTitle"/>
          </p:nvPr>
        </p:nvSpPr>
        <p:spPr>
          <a:xfrm>
            <a:off x="804364" y="3498024"/>
            <a:ext cx="8475600" cy="59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[4/3]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7"/>
          <p:cNvPicPr preferRelativeResize="0"/>
          <p:nvPr/>
        </p:nvPicPr>
        <p:blipFill rotWithShape="1">
          <a:blip r:embed="rId3">
            <a:alphaModFix/>
          </a:blip>
          <a:srcRect b="0" l="0" r="0" t="13801"/>
          <a:stretch/>
        </p:blipFill>
        <p:spPr>
          <a:xfrm>
            <a:off x="675713" y="200875"/>
            <a:ext cx="8729201" cy="52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8"/>
          <p:cNvPicPr preferRelativeResize="0"/>
          <p:nvPr/>
        </p:nvPicPr>
        <p:blipFill rotWithShape="1">
          <a:blip r:embed="rId3">
            <a:alphaModFix/>
          </a:blip>
          <a:srcRect b="0" l="0" r="0" t="6664"/>
          <a:stretch/>
        </p:blipFill>
        <p:spPr>
          <a:xfrm>
            <a:off x="1814600" y="0"/>
            <a:ext cx="6451425" cy="56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 txBox="1"/>
          <p:nvPr>
            <p:ph type="title"/>
          </p:nvPr>
        </p:nvSpPr>
        <p:spPr>
          <a:xfrm>
            <a:off x="804168" y="1453771"/>
            <a:ext cx="84759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Počty entit</a:t>
            </a:r>
            <a:endParaRPr/>
          </a:p>
        </p:txBody>
      </p:sp>
      <p:graphicFrame>
        <p:nvGraphicFramePr>
          <p:cNvPr id="394" name="Google Shape;394;p39"/>
          <p:cNvGraphicFramePr/>
          <p:nvPr/>
        </p:nvGraphicFramePr>
        <p:xfrm>
          <a:off x="952475" y="234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{0DD6F834-4304-4959-A6BC-A38527A4AE62}</a:tableStyleId>
              </a:tblPr>
              <a:tblGrid>
                <a:gridCol w="4087825"/>
                <a:gridCol w="408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Entita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Počet</a:t>
                      </a:r>
                      <a:endParaRPr b="1"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Uživatel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1,000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Soutěž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Pokus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30,000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Kolo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Výsledek kola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6,000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Účast v disciplíně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2,500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Odhadované počty uživatelů</a:t>
            </a:r>
            <a:endParaRPr/>
          </a:p>
        </p:txBody>
      </p:sp>
      <p:graphicFrame>
        <p:nvGraphicFramePr>
          <p:cNvPr id="400" name="Google Shape;400;p40"/>
          <p:cNvGraphicFramePr/>
          <p:nvPr/>
        </p:nvGraphicFramePr>
        <p:xfrm>
          <a:off x="954463" y="270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{0DD6F834-4304-4959-A6BC-A38527A4AE62}</a:tableStyleId>
              </a:tblPr>
              <a:tblGrid>
                <a:gridCol w="2725200"/>
                <a:gridCol w="2725200"/>
                <a:gridCol w="272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Kdy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Write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Neaktivní soutěž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1-5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Otevřené registrace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Průběh soutěže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Výsledky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1-5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Technologie</a:t>
            </a:r>
            <a:endParaRPr/>
          </a:p>
        </p:txBody>
      </p:sp>
      <p:graphicFrame>
        <p:nvGraphicFramePr>
          <p:cNvPr id="406" name="Google Shape;406;p41"/>
          <p:cNvGraphicFramePr/>
          <p:nvPr/>
        </p:nvGraphicFramePr>
        <p:xfrm>
          <a:off x="954438" y="234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{0DD6F834-4304-4959-A6BC-A38527A4AE62}</a:tableStyleId>
              </a:tblPr>
              <a:tblGrid>
                <a:gridCol w="4087825"/>
                <a:gridCol w="40878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Software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Backend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Phoenix Framework, ETS tables  (Elixir)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Frontend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Heex (Elixir)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Databázový engine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PostgreSQL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63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Hardware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Aplikační server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vCPU | 8 GB RAM | 80 GB SDD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Databázový server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 vCPU | 32 GB RAM | 250 GB SSD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2"/>
          <p:cNvSpPr txBox="1"/>
          <p:nvPr/>
        </p:nvSpPr>
        <p:spPr>
          <a:xfrm>
            <a:off x="974413" y="918875"/>
            <a:ext cx="8131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🙏</a:t>
            </a:r>
            <a:endParaRPr sz="4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